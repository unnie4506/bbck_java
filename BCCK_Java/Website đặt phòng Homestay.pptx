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77"/>
          </a:xfrm>
          <a:prstGeom prst="rect">
            <a:avLst/>
          </a:prstGeom>
          <a:noFill/>
        </p:spPr>
        <p:txBody>
          <a:bodyPr wrap="square" lIns="0" tIns="0" rIns="0" bIns="0" rtlCol="0" anchor="t"/>
          <a:lstStyle>
            <a:lvl1pPr marL="0" indent="0" algn="l">
              <a:lnSpc>
                <a:spcPct val="115000"/>
              </a:lnSpc>
              <a:buNone/>
              <a:defRPr lang="en-US" sz="3600" dirty="0">
                <a:solidFill>
                  <a:srgbClr val="1D2B27"/>
                </a:solidFill>
                <a:latin typeface="Segoe UI" panose="020B0502040204020203" pitchFamily="34" charset="0"/>
                <a:ea typeface="Segoe UI" panose="020B0502040204020203" pitchFamily="34" charset="-122"/>
                <a:cs typeface="Segoe UI" panose="020B0502040204020203" pitchFamily="34" charset="-120"/>
              </a:defRPr>
            </a:lvl1pPr>
          </a:lstStyle>
          <a:p>
            <a:pPr marL="0" indent="0" algn="l">
              <a:lnSpc>
                <a:spcPct val="115000"/>
              </a:lnSpc>
              <a:buNone/>
            </a:pPr>
            <a:endParaRPr lang="en-US" sz="3600" dirty="0"/>
          </a:p>
        </p:txBody>
      </p:sp>
      <p:sp>
        <p:nvSpPr>
          <p:cNvPr id="3" name="Text Placeholder 2"/>
          <p:cNvSpPr/>
          <p:nvPr>
            <p:ph type="body" idx="101"/>
          </p:nvPr>
        </p:nvSpPr>
        <p:spPr>
          <a:xfrm>
            <a:off x="812800" y="1620477"/>
            <a:ext cx="10566400" cy="4424723"/>
          </a:xfrm>
          <a:prstGeom prst="rect">
            <a:avLst/>
          </a:prstGeom>
          <a:noFill/>
        </p:spPr>
        <p:txBody>
          <a:bodyPr wrap="square" lIns="0" tIns="0" rIns="0" bIns="0" rtlCol="0" anchor="t"/>
          <a:lstStyle>
            <a:lvl1pPr marL="0" indent="0" algn="l">
              <a:lnSpc>
                <a:spcPct val="140000"/>
              </a:lnSpc>
              <a:buNone/>
              <a:def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77"/>
          </a:xfrm>
          <a:prstGeom prst="rect">
            <a:avLst/>
          </a:prstGeom>
          <a:noFill/>
        </p:spPr>
        <p:txBody>
          <a:bodyPr wrap="square" lIns="0" tIns="0" rIns="0" bIns="0" rtlCol="0" anchor="t"/>
          <a:lstStyle>
            <a:lvl1pPr marL="0" indent="0" algn="l">
              <a:lnSpc>
                <a:spcPct val="115000"/>
              </a:lnSpc>
              <a:buNone/>
              <a:defRPr lang="en-US" sz="3600" dirty="0">
                <a:solidFill>
                  <a:srgbClr val="1D2B27"/>
                </a:solidFill>
                <a:latin typeface="Segoe UI" panose="020B0502040204020203" pitchFamily="34" charset="0"/>
                <a:ea typeface="Segoe UI" panose="020B0502040204020203" pitchFamily="34" charset="-122"/>
                <a:cs typeface="Segoe UI" panose="020B0502040204020203" pitchFamily="34" charset="-120"/>
              </a:defRPr>
            </a:lvl1pPr>
          </a:lstStyle>
          <a:p>
            <a:pPr marL="0" indent="0" algn="l">
              <a:lnSpc>
                <a:spcPct val="115000"/>
              </a:lnSpc>
              <a:buNone/>
            </a:pPr>
            <a:endParaRPr lang="en-US" sz="3600" dirty="0"/>
          </a:p>
        </p:txBody>
      </p:sp>
      <p:sp>
        <p:nvSpPr>
          <p:cNvPr id="3" name="Text Placeholder 2"/>
          <p:cNvSpPr/>
          <p:nvPr>
            <p:ph type="body" idx="101"/>
          </p:nvPr>
        </p:nvSpPr>
        <p:spPr>
          <a:xfrm>
            <a:off x="812800" y="1620477"/>
            <a:ext cx="10566400" cy="4424723"/>
          </a:xfrm>
          <a:prstGeom prst="rect">
            <a:avLst/>
          </a:prstGeom>
          <a:noFill/>
        </p:spPr>
        <p:txBody>
          <a:bodyPr wrap="square" lIns="0" tIns="0" rIns="0" bIns="0" rtlCol="0" anchor="t"/>
          <a:lstStyle>
            <a:lvl1pPr marL="0" indent="0" algn="l">
              <a:lnSpc>
                <a:spcPct val="140000"/>
              </a:lnSpc>
              <a:buNone/>
              <a:def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31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77"/>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E9A45C"/>
                </a:solidFill>
                <a:latin typeface="Segoe UI" panose="020B0502040204020203" pitchFamily="34" charset="0"/>
                <a:ea typeface="Segoe UI" panose="020B0502040204020203" pitchFamily="34" charset="-122"/>
                <a:cs typeface="Segoe UI" panose="020B0502040204020203" pitchFamily="34" charset="-120"/>
              </a:rPr>
              <a:t>Đại học Đà Nẵng · Phân hiệu tại Kon Tum · Môn Lập trình Java</a:t>
            </a:r>
            <a:endParaRPr lang="en-US" sz="1400" dirty="0"/>
          </a:p>
        </p:txBody>
      </p:sp>
      <p:sp>
        <p:nvSpPr>
          <p:cNvPr id="3" name="Text 1"/>
          <p:cNvSpPr/>
          <p:nvPr>
            <p:ph type="title"/>
          </p:nvPr>
        </p:nvSpPr>
        <p:spPr>
          <a:xfrm>
            <a:off x="812800" y="2357149"/>
            <a:ext cx="10883392" cy="1412153"/>
          </a:xfrm>
          <a:prstGeom prst="rect">
            <a:avLst/>
          </a:prstGeom>
          <a:noFill/>
        </p:spPr>
        <p:txBody>
          <a:bodyPr wrap="square" lIns="0" tIns="0" rIns="0" bIns="0" rtlCol="0" anchor="t">
            <a:normAutofit/>
          </a:bodyPr>
          <a:lstStyle/>
          <a:p>
            <a:pPr marL="0" indent="0" algn="l">
              <a:lnSpc>
                <a:spcPts val="5460"/>
              </a:lnSpc>
              <a:buNone/>
            </a:pPr>
            <a:r>
              <a:rPr lang="en-US" sz="5200" b="1" i="0" dirty="0">
                <a:solidFill>
                  <a:srgbClr val="F6F3EC"/>
                </a:solidFill>
                <a:latin typeface="Segoe UI" panose="020B0502040204020203" pitchFamily="34" charset="0"/>
                <a:ea typeface="Segoe UI" panose="020B0502040204020203" pitchFamily="34" charset="-122"/>
                <a:cs typeface="Segoe UI" panose="020B0502040204020203" pitchFamily="34" charset="-120"/>
              </a:rPr>
              <a:t>Xây dựng website đặt phòng Homestay</a:t>
            </a:r>
            <a:endParaRPr lang="en-US" sz="5200" dirty="0"/>
          </a:p>
        </p:txBody>
      </p:sp>
      <p:sp>
        <p:nvSpPr>
          <p:cNvPr id="4" name="Text 2"/>
          <p:cNvSpPr/>
          <p:nvPr/>
        </p:nvSpPr>
        <p:spPr>
          <a:xfrm>
            <a:off x="812800" y="3896302"/>
            <a:ext cx="10883392" cy="345426"/>
          </a:xfrm>
          <a:prstGeom prst="rect">
            <a:avLst/>
          </a:prstGeom>
          <a:noFill/>
        </p:spPr>
        <p:txBody>
          <a:bodyPr wrap="square" lIns="0" tIns="0" rIns="0" bIns="0" rtlCol="0" anchor="t">
            <a:normAutofit/>
          </a:bodyPr>
          <a:lstStyle/>
          <a:p>
            <a:pPr marL="0" indent="0" algn="l">
              <a:lnSpc>
                <a:spcPts val="2520"/>
              </a:lnSpc>
              <a:buNone/>
            </a:pPr>
            <a:r>
              <a:rPr lang="en-US" sz="1800" dirty="0">
                <a:solidFill>
                  <a:srgbClr val="CFD8D3"/>
                </a:solidFill>
                <a:latin typeface="Segoe UI" panose="020B0502040204020203" pitchFamily="34" charset="0"/>
                <a:ea typeface="Segoe UI" panose="020B0502040204020203" pitchFamily="34" charset="-122"/>
                <a:cs typeface="Segoe UI" panose="020B0502040204020203" pitchFamily="34" charset="-120"/>
              </a:rPr>
              <a:t>Java Servlet · JDBC · MySQL · React</a:t>
            </a:r>
            <a:endParaRPr lang="en-US" sz="1800" dirty="0"/>
          </a:p>
        </p:txBody>
      </p:sp>
      <p:sp>
        <p:nvSpPr>
          <p:cNvPr id="5" name="Text 3"/>
          <p:cNvSpPr/>
          <p:nvPr/>
        </p:nvSpPr>
        <p:spPr>
          <a:xfrm>
            <a:off x="812800" y="5511800"/>
            <a:ext cx="10883392" cy="5588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CFD8D3"/>
                </a:solidFill>
                <a:latin typeface="Segoe UI" panose="020B0502040204020203" pitchFamily="34" charset="0"/>
                <a:ea typeface="Segoe UI" panose="020B0502040204020203" pitchFamily="34" charset="-122"/>
                <a:cs typeface="Segoe UI" panose="020B0502040204020203" pitchFamily="34" charset="-120"/>
              </a:rPr>
              <a:t>Lưu Thị Ngọc Lành · Nguyễn Thảo Uyên · Nguyễn Nữ Anh Thư — Lớp K24TT</a:t>
            </a:r>
            <a:endParaRPr lang="en-US" sz="1400" dirty="0"/>
          </a:p>
          <a:p>
            <a:pPr marL="0" indent="0" algn="l">
              <a:lnSpc>
                <a:spcPts val="2100"/>
              </a:lnSpc>
              <a:buNone/>
            </a:pPr>
            <a:r>
              <a:rPr lang="en-US" sz="1400" dirty="0">
                <a:solidFill>
                  <a:srgbClr val="CFD8D3"/>
                </a:solidFill>
                <a:latin typeface="Segoe UI" panose="020B0502040204020203" pitchFamily="34" charset="0"/>
                <a:ea typeface="Segoe UI" panose="020B0502040204020203" pitchFamily="34" charset="-122"/>
                <a:cs typeface="Segoe UI" panose="020B0502040204020203" pitchFamily="34" charset="-120"/>
              </a:rPr>
              <a:t>GVHD: ThS. Nguyễn Sĩ Thìn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D2B27"/>
                </a:solidFill>
                <a:latin typeface="Segoe UI" panose="020B0502040204020203" pitchFamily="34" charset="0"/>
                <a:ea typeface="Segoe UI" panose="020B0502040204020203" pitchFamily="34" charset="-122"/>
                <a:cs typeface="Segoe UI" panose="020B0502040204020203" pitchFamily="34" charset="-120"/>
              </a:rPr>
              <a:t>Vì sao chọn đề tài</a:t>
            </a:r>
            <a:endParaRPr lang="en-US" sz="3600" dirty="0"/>
          </a:p>
        </p:txBody>
      </p:sp>
      <p:sp>
        <p:nvSpPr>
          <p:cNvPr id="3" name="Shape 1"/>
          <p:cNvSpPr/>
          <p:nvPr/>
        </p:nvSpPr>
        <p:spPr>
          <a:xfrm>
            <a:off x="812800" y="1671277"/>
            <a:ext cx="3386643" cy="2387456"/>
          </a:xfrm>
          <a:prstGeom prst="roundRect">
            <a:avLst>
              <a:gd name="adj" fmla="val 4256"/>
            </a:avLst>
          </a:prstGeom>
          <a:solidFill>
            <a:srgbClr val="14312B"/>
          </a:solidFill>
        </p:spPr>
      </p:sp>
      <p:sp>
        <p:nvSpPr>
          <p:cNvPr id="4" name="Text 2"/>
          <p:cNvSpPr/>
          <p:nvPr/>
        </p:nvSpPr>
        <p:spPr>
          <a:xfrm>
            <a:off x="1066800" y="1925277"/>
            <a:ext cx="2965002" cy="878826"/>
          </a:xfrm>
          <a:prstGeom prst="rect">
            <a:avLst/>
          </a:prstGeom>
          <a:noFill/>
        </p:spPr>
        <p:txBody>
          <a:bodyPr wrap="square" lIns="0" tIns="0" rIns="0" bIns="0" rtlCol="0" anchor="t">
            <a:normAutofit/>
          </a:bodyPr>
          <a:lstStyle/>
          <a:p>
            <a:pPr marL="0" indent="0" algn="l">
              <a:lnSpc>
                <a:spcPts val="6720"/>
              </a:lnSpc>
              <a:buNone/>
            </a:pPr>
            <a:r>
              <a:rPr lang="en-US" sz="4800" b="1" dirty="0">
                <a:solidFill>
                  <a:srgbClr val="E9A45C"/>
                </a:solidFill>
                <a:latin typeface="Segoe UI" panose="020B0502040204020203" pitchFamily="34" charset="0"/>
                <a:ea typeface="Segoe UI" panose="020B0502040204020203" pitchFamily="34" charset="-122"/>
                <a:cs typeface="Segoe UI" panose="020B0502040204020203" pitchFamily="34" charset="-120"/>
              </a:rPr>
              <a:t>21,2 triệu</a:t>
            </a:r>
            <a:endParaRPr lang="en-US" sz="4800" dirty="0"/>
          </a:p>
        </p:txBody>
      </p:sp>
      <p:sp>
        <p:nvSpPr>
          <p:cNvPr id="5" name="Text 3"/>
          <p:cNvSpPr/>
          <p:nvPr/>
        </p:nvSpPr>
        <p:spPr>
          <a:xfrm>
            <a:off x="1066800" y="2880302"/>
            <a:ext cx="2965002" cy="594302"/>
          </a:xfrm>
          <a:prstGeom prst="rect">
            <a:avLst/>
          </a:prstGeom>
          <a:noFill/>
        </p:spPr>
        <p:txBody>
          <a:bodyPr wrap="square" lIns="0" tIns="0" rIns="0" bIns="0" rtlCol="0" anchor="t">
            <a:normAutofit/>
          </a:bodyPr>
          <a:lstStyle/>
          <a:p>
            <a:pPr marL="0" indent="0" algn="l">
              <a:lnSpc>
                <a:spcPts val="2240"/>
              </a:lnSpc>
              <a:buNone/>
            </a:pPr>
            <a:r>
              <a:rPr lang="en-US" sz="1600" dirty="0">
                <a:solidFill>
                  <a:srgbClr val="F6F3EC"/>
                </a:solidFill>
                <a:latin typeface="Segoe UI" panose="020B0502040204020203" pitchFamily="34" charset="0"/>
                <a:ea typeface="Segoe UI" panose="020B0502040204020203" pitchFamily="34" charset="-122"/>
                <a:cs typeface="Segoe UI" panose="020B0502040204020203" pitchFamily="34" charset="-120"/>
              </a:rPr>
              <a:t>lượt khách quốc tế năm 2025, tăng 20,4% so với 2024</a:t>
            </a:r>
            <a:endParaRPr lang="en-US" sz="1600" dirty="0"/>
          </a:p>
        </p:txBody>
      </p:sp>
      <p:sp>
        <p:nvSpPr>
          <p:cNvPr id="6" name="Shape 4"/>
          <p:cNvSpPr/>
          <p:nvPr/>
        </p:nvSpPr>
        <p:spPr>
          <a:xfrm>
            <a:off x="4402643" y="1671277"/>
            <a:ext cx="3386715" cy="2387456"/>
          </a:xfrm>
          <a:prstGeom prst="roundRect">
            <a:avLst>
              <a:gd name="adj" fmla="val 4256"/>
            </a:avLst>
          </a:prstGeom>
          <a:solidFill>
            <a:srgbClr val="FFFFFF"/>
          </a:solidFill>
        </p:spPr>
      </p:sp>
      <p:sp>
        <p:nvSpPr>
          <p:cNvPr id="7" name="Text 5"/>
          <p:cNvSpPr/>
          <p:nvPr/>
        </p:nvSpPr>
        <p:spPr>
          <a:xfrm>
            <a:off x="4656643" y="1925277"/>
            <a:ext cx="2965076" cy="381000"/>
          </a:xfrm>
          <a:prstGeom prst="rect">
            <a:avLst/>
          </a:prstGeom>
          <a:noFill/>
        </p:spPr>
        <p:txBody>
          <a:bodyPr wrap="square" lIns="0" tIns="0" rIns="0" bIns="0" rtlCol="0" anchor="t">
            <a:normAutofit/>
          </a:bodyPr>
          <a:lstStyle/>
          <a:p>
            <a:pPr marL="0" indent="0" algn="l">
              <a:lnSpc>
                <a:spcPts val="2800"/>
              </a:lnSpc>
              <a:buNone/>
            </a:pPr>
            <a:r>
              <a:rPr lang="en-US" sz="2000" b="1" dirty="0">
                <a:solidFill>
                  <a:srgbClr val="1D2B27"/>
                </a:solidFill>
                <a:latin typeface="Segoe UI" panose="020B0502040204020203" pitchFamily="34" charset="0"/>
                <a:ea typeface="Segoe UI" panose="020B0502040204020203" pitchFamily="34" charset="-122"/>
                <a:cs typeface="Segoe UI" panose="020B0502040204020203" pitchFamily="34" charset="-120"/>
              </a:rPr>
              <a:t>Quản lý thủ công</a:t>
            </a:r>
            <a:endParaRPr lang="en-US" sz="2000" dirty="0"/>
          </a:p>
        </p:txBody>
      </p:sp>
      <p:sp>
        <p:nvSpPr>
          <p:cNvPr id="8" name="Text 6"/>
          <p:cNvSpPr/>
          <p:nvPr/>
        </p:nvSpPr>
        <p:spPr>
          <a:xfrm>
            <a:off x="4656643" y="2382477"/>
            <a:ext cx="2965076" cy="1447656"/>
          </a:xfrm>
          <a:prstGeom prst="rect">
            <a:avLst/>
          </a:prstGeom>
          <a:noFill/>
        </p:spPr>
        <p:txBody>
          <a:bodyPr wrap="square" lIns="0" tIns="0" rIns="0" bIns="0" rtlCol="0" anchor="t">
            <a:normAutofit/>
          </a:bodyPr>
          <a:lstStyle/>
          <a:p>
            <a:pPr marL="0" indent="0" algn="l">
              <a:lnSpc>
                <a:spcPts val="2240"/>
              </a:lnSpc>
              <a:buNone/>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Nhận đặt phòng qua tin nhắn, điện thoại, ghi lịch tay: dễ trùng lịch, sai thông tin, mất thời gian tổng hợp doanh thu (nhận định của nhóm).</a:t>
            </a:r>
            <a:endParaRPr lang="en-US" sz="1600" dirty="0"/>
          </a:p>
        </p:txBody>
      </p:sp>
      <p:sp>
        <p:nvSpPr>
          <p:cNvPr id="9" name="Shape 7"/>
          <p:cNvSpPr/>
          <p:nvPr/>
        </p:nvSpPr>
        <p:spPr>
          <a:xfrm>
            <a:off x="7992558" y="1671277"/>
            <a:ext cx="3386643" cy="2387456"/>
          </a:xfrm>
          <a:prstGeom prst="roundRect">
            <a:avLst>
              <a:gd name="adj" fmla="val 4256"/>
            </a:avLst>
          </a:prstGeom>
          <a:solidFill>
            <a:srgbClr val="FFFFFF"/>
          </a:solidFill>
        </p:spPr>
      </p:sp>
      <p:sp>
        <p:nvSpPr>
          <p:cNvPr id="10" name="Text 8"/>
          <p:cNvSpPr/>
          <p:nvPr/>
        </p:nvSpPr>
        <p:spPr>
          <a:xfrm>
            <a:off x="8246558" y="1925277"/>
            <a:ext cx="2965002" cy="381000"/>
          </a:xfrm>
          <a:prstGeom prst="rect">
            <a:avLst/>
          </a:prstGeom>
          <a:noFill/>
        </p:spPr>
        <p:txBody>
          <a:bodyPr wrap="square" lIns="0" tIns="0" rIns="0" bIns="0" rtlCol="0" anchor="t">
            <a:normAutofit/>
          </a:bodyPr>
          <a:lstStyle/>
          <a:p>
            <a:pPr marL="0" indent="0" algn="l">
              <a:lnSpc>
                <a:spcPts val="2800"/>
              </a:lnSpc>
              <a:buNone/>
            </a:pPr>
            <a:r>
              <a:rPr lang="en-US" sz="2000" b="1" dirty="0">
                <a:solidFill>
                  <a:srgbClr val="1D2B27"/>
                </a:solidFill>
                <a:latin typeface="Segoe UI" panose="020B0502040204020203" pitchFamily="34" charset="0"/>
                <a:ea typeface="Segoe UI" panose="020B0502040204020203" pitchFamily="34" charset="-122"/>
                <a:cs typeface="Segoe UI" panose="020B0502040204020203" pitchFamily="34" charset="-120"/>
              </a:rPr>
              <a:t>Giải pháp</a:t>
            </a:r>
            <a:endParaRPr lang="en-US" sz="2000" dirty="0"/>
          </a:p>
        </p:txBody>
      </p:sp>
      <p:sp>
        <p:nvSpPr>
          <p:cNvPr id="11" name="Text 9"/>
          <p:cNvSpPr/>
          <p:nvPr/>
        </p:nvSpPr>
        <p:spPr>
          <a:xfrm>
            <a:off x="8246558" y="2382477"/>
            <a:ext cx="2965002" cy="1163205"/>
          </a:xfrm>
          <a:prstGeom prst="rect">
            <a:avLst/>
          </a:prstGeom>
          <a:noFill/>
        </p:spPr>
        <p:txBody>
          <a:bodyPr wrap="square" lIns="0" tIns="0" rIns="0" bIns="0" rtlCol="0" anchor="t">
            <a:normAutofit/>
          </a:bodyPr>
          <a:lstStyle/>
          <a:p>
            <a:pPr marL="0" indent="0" algn="l">
              <a:lnSpc>
                <a:spcPts val="2240"/>
              </a:lnSpc>
              <a:buNone/>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Khách tra phòng trống và đặt trực tuyến; quản lý theo dõi phòng, đơn, cọc, hóa đơn, thống kê trên một hệ thống.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D2B27"/>
                </a:solidFill>
                <a:latin typeface="Segoe UI" panose="020B0502040204020203" pitchFamily="34" charset="0"/>
                <a:ea typeface="Segoe UI" panose="020B0502040204020203" pitchFamily="34" charset="-122"/>
                <a:cs typeface="Segoe UI" panose="020B0502040204020203" pitchFamily="34" charset="-120"/>
              </a:rPr>
              <a:t>Mục tiêu và phạm vi</a:t>
            </a:r>
            <a:endParaRPr lang="en-US" sz="3600" dirty="0"/>
          </a:p>
        </p:txBody>
      </p:sp>
      <p:sp>
        <p:nvSpPr>
          <p:cNvPr id="3" name="Text 1"/>
          <p:cNvSpPr/>
          <p:nvPr/>
        </p:nvSpPr>
        <p:spPr>
          <a:xfrm>
            <a:off x="812800" y="1620478"/>
            <a:ext cx="10883392" cy="673100"/>
          </a:xfrm>
          <a:prstGeom prst="rect">
            <a:avLst/>
          </a:prstGeom>
          <a:noFill/>
        </p:spPr>
        <p:txBody>
          <a:bodyPr wrap="square" lIns="0" tIns="0" rIns="0" bIns="0" rtlCol="0" anchor="t">
            <a:normAutofit/>
          </a:bodyPr>
          <a:lstStyle/>
          <a:p>
            <a:pPr marL="0" indent="0" algn="l">
              <a:lnSpc>
                <a:spcPts val="2550"/>
              </a:lnSpc>
              <a:buNone/>
            </a:pPr>
            <a:r>
              <a:rPr lang="en-US" sz="1700" dirty="0">
                <a:solidFill>
                  <a:srgbClr val="1D2B27"/>
                </a:solidFill>
                <a:latin typeface="Segoe UI" panose="020B0502040204020203" pitchFamily="34" charset="0"/>
                <a:ea typeface="Segoe UI" panose="020B0502040204020203" pitchFamily="34" charset="-122"/>
                <a:cs typeface="Segoe UI" panose="020B0502040204020203" pitchFamily="34" charset="-120"/>
              </a:rPr>
              <a:t>Website đặt phòng Homestay bằng Java cho khách tra cứu, đặt phòng trực tuyến và cho quản lý vận hành phòng, đơn, thanh toán, hóa đơn.</a:t>
            </a:r>
            <a:endParaRPr lang="en-US" sz="1700" dirty="0"/>
          </a:p>
        </p:txBody>
      </p:sp>
      <p:sp>
        <p:nvSpPr>
          <p:cNvPr id="4" name="Shape 2"/>
          <p:cNvSpPr/>
          <p:nvPr/>
        </p:nvSpPr>
        <p:spPr>
          <a:xfrm>
            <a:off x="812800" y="2572978"/>
            <a:ext cx="5181600" cy="2108200"/>
          </a:xfrm>
          <a:prstGeom prst="roundRect">
            <a:avLst>
              <a:gd name="adj" fmla="val 4819"/>
            </a:avLst>
          </a:prstGeom>
          <a:solidFill>
            <a:srgbClr val="FFFFFF"/>
          </a:solidFill>
        </p:spPr>
      </p:sp>
      <p:sp>
        <p:nvSpPr>
          <p:cNvPr id="5" name="Text 3"/>
          <p:cNvSpPr/>
          <p:nvPr/>
        </p:nvSpPr>
        <p:spPr>
          <a:xfrm>
            <a:off x="1066800" y="2826978"/>
            <a:ext cx="4813808" cy="381000"/>
          </a:xfrm>
          <a:prstGeom prst="rect">
            <a:avLst/>
          </a:prstGeom>
          <a:noFill/>
        </p:spPr>
        <p:txBody>
          <a:bodyPr wrap="square" lIns="0" tIns="0" rIns="0" bIns="0" rtlCol="0" anchor="t">
            <a:normAutofit/>
          </a:bodyPr>
          <a:lstStyle/>
          <a:p>
            <a:pPr marL="0" indent="0" algn="l">
              <a:lnSpc>
                <a:spcPts val="2800"/>
              </a:lnSpc>
              <a:buNone/>
            </a:pPr>
            <a:r>
              <a:rPr lang="en-US" sz="2000" b="1" dirty="0">
                <a:solidFill>
                  <a:srgbClr val="2F7D6D"/>
                </a:solidFill>
                <a:latin typeface="Segoe UI" panose="020B0502040204020203" pitchFamily="34" charset="0"/>
                <a:ea typeface="Segoe UI" panose="020B0502040204020203" pitchFamily="34" charset="-122"/>
                <a:cs typeface="Segoe UI" panose="020B0502040204020203" pitchFamily="34" charset="-120"/>
              </a:rPr>
              <a:t>Trong phạm vi</a:t>
            </a:r>
            <a:endParaRPr lang="en-US" sz="2000" dirty="0"/>
          </a:p>
        </p:txBody>
      </p:sp>
      <p:sp>
        <p:nvSpPr>
          <p:cNvPr id="6" name="Text 4"/>
          <p:cNvSpPr/>
          <p:nvPr/>
        </p:nvSpPr>
        <p:spPr>
          <a:xfrm>
            <a:off x="1106170" y="3284178"/>
            <a:ext cx="4767580" cy="1168400"/>
          </a:xfrm>
          <a:prstGeom prst="rect">
            <a:avLst/>
          </a:prstGeom>
          <a:noFill/>
        </p:spPr>
        <p:txBody>
          <a:bodyPr wrap="square" lIns="0" tIns="0" rIns="0" bIns="0" rtlCol="0" anchor="t">
            <a:normAutofit/>
          </a:bodyPr>
          <a:lstStyle/>
          <a:p>
            <a:pPr marL="189230" indent="-189230" algn="l">
              <a:lnSpc>
                <a:spcPts val="2250"/>
              </a:lnSpc>
              <a:buSzPct val="100000"/>
              <a:buChar char="•"/>
            </a:pP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Đăng ký, đăng nhập, phân quyền hai vai trò</a:t>
            </a:r>
            <a:endParaRPr lang="en-US" sz="1500" dirty="0"/>
          </a:p>
          <a:p>
            <a:pPr marL="189230" indent="-189230" algn="l">
              <a:lnSpc>
                <a:spcPts val="2250"/>
              </a:lnSpc>
              <a:buSzPct val="100000"/>
              <a:buChar char="•"/>
            </a:pP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Quản lý phòng, đặt phòng có kiểm tra trùng lịch</a:t>
            </a:r>
            <a:endParaRPr lang="en-US" sz="1500" dirty="0"/>
          </a:p>
          <a:p>
            <a:pPr marL="189230" indent="-189230" algn="l">
              <a:lnSpc>
                <a:spcPts val="2250"/>
              </a:lnSpc>
              <a:buSzPct val="100000"/>
              <a:buChar char="•"/>
            </a:pP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Cọc, hủy, hoàn cọc, check-in/out, hóa đơn</a:t>
            </a:r>
            <a:endParaRPr lang="en-US" sz="1500" dirty="0"/>
          </a:p>
          <a:p>
            <a:pPr marL="189230" indent="-189230" algn="l">
              <a:lnSpc>
                <a:spcPts val="2250"/>
              </a:lnSpc>
              <a:buSzPct val="100000"/>
              <a:buChar char="•"/>
            </a:pP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Thống kê doanh thu, tỷ lệ lấp đầy</a:t>
            </a:r>
            <a:endParaRPr lang="en-US" sz="1500" dirty="0"/>
          </a:p>
        </p:txBody>
      </p:sp>
      <p:sp>
        <p:nvSpPr>
          <p:cNvPr id="7" name="Shape 5"/>
          <p:cNvSpPr/>
          <p:nvPr/>
        </p:nvSpPr>
        <p:spPr>
          <a:xfrm>
            <a:off x="6197600" y="2572978"/>
            <a:ext cx="5181600" cy="2108200"/>
          </a:xfrm>
          <a:prstGeom prst="roundRect">
            <a:avLst>
              <a:gd name="adj" fmla="val 4819"/>
            </a:avLst>
          </a:prstGeom>
          <a:solidFill>
            <a:srgbClr val="FFFFFF"/>
          </a:solidFill>
        </p:spPr>
      </p:sp>
      <p:sp>
        <p:nvSpPr>
          <p:cNvPr id="8" name="Text 6"/>
          <p:cNvSpPr/>
          <p:nvPr/>
        </p:nvSpPr>
        <p:spPr>
          <a:xfrm>
            <a:off x="6451600" y="2826978"/>
            <a:ext cx="4813808" cy="381000"/>
          </a:xfrm>
          <a:prstGeom prst="rect">
            <a:avLst/>
          </a:prstGeom>
          <a:noFill/>
        </p:spPr>
        <p:txBody>
          <a:bodyPr wrap="square" lIns="0" tIns="0" rIns="0" bIns="0" rtlCol="0" anchor="t">
            <a:normAutofit/>
          </a:bodyPr>
          <a:lstStyle/>
          <a:p>
            <a:pPr marL="0" indent="0" algn="l">
              <a:lnSpc>
                <a:spcPts val="2800"/>
              </a:lnSpc>
              <a:buNone/>
            </a:pPr>
            <a:r>
              <a:rPr lang="en-US" sz="2000" b="1" dirty="0">
                <a:solidFill>
                  <a:srgbClr val="C46A12"/>
                </a:solidFill>
                <a:latin typeface="Segoe UI" panose="020B0502040204020203" pitchFamily="34" charset="0"/>
                <a:ea typeface="Segoe UI" panose="020B0502040204020203" pitchFamily="34" charset="-122"/>
                <a:cs typeface="Segoe UI" panose="020B0502040204020203" pitchFamily="34" charset="-120"/>
              </a:rPr>
              <a:t>Ngoài phạm vi</a:t>
            </a:r>
            <a:endParaRPr lang="en-US" sz="2000" dirty="0"/>
          </a:p>
        </p:txBody>
      </p:sp>
      <p:sp>
        <p:nvSpPr>
          <p:cNvPr id="9" name="Text 7"/>
          <p:cNvSpPr/>
          <p:nvPr/>
        </p:nvSpPr>
        <p:spPr>
          <a:xfrm>
            <a:off x="6490970" y="3284178"/>
            <a:ext cx="4767580" cy="1168400"/>
          </a:xfrm>
          <a:prstGeom prst="rect">
            <a:avLst/>
          </a:prstGeom>
          <a:noFill/>
        </p:spPr>
        <p:txBody>
          <a:bodyPr wrap="square" lIns="0" tIns="0" rIns="0" bIns="0" rtlCol="0" anchor="t">
            <a:normAutofit/>
          </a:bodyPr>
          <a:lstStyle/>
          <a:p>
            <a:pPr marL="189230" indent="-189230" algn="l">
              <a:lnSpc>
                <a:spcPts val="2250"/>
              </a:lnSpc>
              <a:buSzPct val="100000"/>
              <a:buChar char="•"/>
            </a:pP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Cổng thanh toán trực tuyến (thu, hoàn tiền ghi nhận thủ công)</a:t>
            </a:r>
            <a:endParaRPr lang="en-US" sz="1500" dirty="0"/>
          </a:p>
          <a:p>
            <a:pPr marL="189230" indent="-189230" algn="l">
              <a:lnSpc>
                <a:spcPts val="2250"/>
              </a:lnSpc>
              <a:buSzPct val="100000"/>
              <a:buChar char="•"/>
            </a:pP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Đánh giá, email/SMS tự động</a:t>
            </a:r>
            <a:endParaRPr lang="en-US" sz="1500" dirty="0"/>
          </a:p>
          <a:p>
            <a:pPr marL="189230" indent="-189230" algn="l">
              <a:lnSpc>
                <a:spcPts val="2250"/>
              </a:lnSpc>
              <a:buSzPct val="100000"/>
              <a:buChar char="•"/>
            </a:pP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Ứng dụng di động, nhiều cơ sở, đám mây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312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F6F3EC"/>
                </a:solidFill>
                <a:latin typeface="Segoe UI" panose="020B0502040204020203" pitchFamily="34" charset="0"/>
                <a:ea typeface="Segoe UI" panose="020B0502040204020203" pitchFamily="34" charset="-122"/>
                <a:cs typeface="Segoe UI" panose="020B0502040204020203" pitchFamily="34" charset="-120"/>
              </a:rPr>
              <a:t>Công nghệ và kiến trúc phân tầng</a:t>
            </a:r>
            <a:endParaRPr lang="en-US" sz="3600" dirty="0"/>
          </a:p>
        </p:txBody>
      </p:sp>
      <p:sp>
        <p:nvSpPr>
          <p:cNvPr id="3" name="Shape 1"/>
          <p:cNvSpPr/>
          <p:nvPr/>
        </p:nvSpPr>
        <p:spPr>
          <a:xfrm>
            <a:off x="812800" y="1671278"/>
            <a:ext cx="2011651" cy="1640754"/>
          </a:xfrm>
          <a:prstGeom prst="roundRect">
            <a:avLst>
              <a:gd name="adj" fmla="val 6192"/>
            </a:avLst>
          </a:prstGeom>
          <a:solidFill>
            <a:srgbClr val="2F7D6D"/>
          </a:solidFill>
        </p:spPr>
      </p:sp>
      <p:sp>
        <p:nvSpPr>
          <p:cNvPr id="4" name="Text 2"/>
          <p:cNvSpPr/>
          <p:nvPr/>
        </p:nvSpPr>
        <p:spPr>
          <a:xfrm>
            <a:off x="1066800" y="1925278"/>
            <a:ext cx="1554451" cy="309851"/>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React</a:t>
            </a:r>
            <a:endParaRPr lang="en-US" sz="1600" dirty="0"/>
          </a:p>
        </p:txBody>
      </p:sp>
      <p:sp>
        <p:nvSpPr>
          <p:cNvPr id="5" name="Text 3"/>
          <p:cNvSpPr/>
          <p:nvPr/>
        </p:nvSpPr>
        <p:spPr>
          <a:xfrm>
            <a:off x="1066800" y="2311329"/>
            <a:ext cx="1554451" cy="48765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6F3EC"/>
                </a:solidFill>
                <a:latin typeface="Segoe UI" panose="020B0502040204020203" pitchFamily="34" charset="0"/>
                <a:ea typeface="Segoe UI" panose="020B0502040204020203" pitchFamily="34" charset="-122"/>
                <a:cs typeface="Segoe UI" panose="020B0502040204020203" pitchFamily="34" charset="-120"/>
              </a:rPr>
              <a:t>Giao diện khách và quản lý</a:t>
            </a:r>
            <a:endParaRPr lang="en-US" sz="1300" dirty="0"/>
          </a:p>
        </p:txBody>
      </p:sp>
      <p:sp>
        <p:nvSpPr>
          <p:cNvPr id="6" name="Shape 4"/>
          <p:cNvSpPr/>
          <p:nvPr/>
        </p:nvSpPr>
        <p:spPr>
          <a:xfrm>
            <a:off x="2951451" y="1671278"/>
            <a:ext cx="2011723" cy="1640754"/>
          </a:xfrm>
          <a:prstGeom prst="roundRect">
            <a:avLst>
              <a:gd name="adj" fmla="val 6192"/>
            </a:avLst>
          </a:prstGeom>
          <a:solidFill>
            <a:srgbClr val="2F7D6D"/>
          </a:solidFill>
        </p:spPr>
      </p:sp>
      <p:sp>
        <p:nvSpPr>
          <p:cNvPr id="7" name="Text 5"/>
          <p:cNvSpPr/>
          <p:nvPr/>
        </p:nvSpPr>
        <p:spPr>
          <a:xfrm>
            <a:off x="3205451" y="1925278"/>
            <a:ext cx="1554523" cy="594302"/>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Servlet Controller</a:t>
            </a:r>
            <a:endParaRPr lang="en-US" sz="1600" dirty="0"/>
          </a:p>
        </p:txBody>
      </p:sp>
      <p:sp>
        <p:nvSpPr>
          <p:cNvPr id="8" name="Text 6"/>
          <p:cNvSpPr/>
          <p:nvPr/>
        </p:nvSpPr>
        <p:spPr>
          <a:xfrm>
            <a:off x="3205451" y="2595780"/>
            <a:ext cx="1554523" cy="48765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6F3EC"/>
                </a:solidFill>
                <a:latin typeface="Segoe UI" panose="020B0502040204020203" pitchFamily="34" charset="0"/>
                <a:ea typeface="Segoe UI" panose="020B0502040204020203" pitchFamily="34" charset="-122"/>
                <a:cs typeface="Segoe UI" panose="020B0502040204020203" pitchFamily="34" charset="-120"/>
              </a:rPr>
              <a:t>Nhận HTTP, trả JSON</a:t>
            </a:r>
            <a:endParaRPr lang="en-US" sz="1300" dirty="0"/>
          </a:p>
        </p:txBody>
      </p:sp>
      <p:sp>
        <p:nvSpPr>
          <p:cNvPr id="9" name="Shape 7"/>
          <p:cNvSpPr/>
          <p:nvPr/>
        </p:nvSpPr>
        <p:spPr>
          <a:xfrm>
            <a:off x="5090175" y="1671278"/>
            <a:ext cx="2011651" cy="1640754"/>
          </a:xfrm>
          <a:prstGeom prst="roundRect">
            <a:avLst>
              <a:gd name="adj" fmla="val 6192"/>
            </a:avLst>
          </a:prstGeom>
          <a:solidFill>
            <a:srgbClr val="2F7D6D"/>
          </a:solidFill>
        </p:spPr>
      </p:sp>
      <p:sp>
        <p:nvSpPr>
          <p:cNvPr id="10" name="Text 8"/>
          <p:cNvSpPr/>
          <p:nvPr/>
        </p:nvSpPr>
        <p:spPr>
          <a:xfrm>
            <a:off x="5344175" y="1925278"/>
            <a:ext cx="1554451" cy="309851"/>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Service</a:t>
            </a:r>
            <a:endParaRPr lang="en-US" sz="1600" dirty="0"/>
          </a:p>
        </p:txBody>
      </p:sp>
      <p:sp>
        <p:nvSpPr>
          <p:cNvPr id="11" name="Text 9"/>
          <p:cNvSpPr/>
          <p:nvPr/>
        </p:nvSpPr>
        <p:spPr>
          <a:xfrm>
            <a:off x="5344175" y="2311329"/>
            <a:ext cx="1554451" cy="48765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6F3EC"/>
                </a:solidFill>
                <a:latin typeface="Segoe UI" panose="020B0502040204020203" pitchFamily="34" charset="0"/>
                <a:ea typeface="Segoe UI" panose="020B0502040204020203" pitchFamily="34" charset="-122"/>
                <a:cs typeface="Segoe UI" panose="020B0502040204020203" pitchFamily="34" charset="-120"/>
              </a:rPr>
              <a:t>Nghiệp vụ, trùng lịch, tính tiền</a:t>
            </a:r>
            <a:endParaRPr lang="en-US" sz="1300" dirty="0"/>
          </a:p>
        </p:txBody>
      </p:sp>
      <p:sp>
        <p:nvSpPr>
          <p:cNvPr id="12" name="Shape 10"/>
          <p:cNvSpPr/>
          <p:nvPr/>
        </p:nvSpPr>
        <p:spPr>
          <a:xfrm>
            <a:off x="7228825" y="1671278"/>
            <a:ext cx="2011723" cy="1640754"/>
          </a:xfrm>
          <a:prstGeom prst="roundRect">
            <a:avLst>
              <a:gd name="adj" fmla="val 6192"/>
            </a:avLst>
          </a:prstGeom>
          <a:solidFill>
            <a:srgbClr val="2F7D6D"/>
          </a:solidFill>
        </p:spPr>
      </p:sp>
      <p:sp>
        <p:nvSpPr>
          <p:cNvPr id="13" name="Text 11"/>
          <p:cNvSpPr/>
          <p:nvPr/>
        </p:nvSpPr>
        <p:spPr>
          <a:xfrm>
            <a:off x="7482825" y="1925278"/>
            <a:ext cx="1554523" cy="309851"/>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DAO / JDBC</a:t>
            </a:r>
            <a:endParaRPr lang="en-US" sz="1600" dirty="0"/>
          </a:p>
        </p:txBody>
      </p:sp>
      <p:sp>
        <p:nvSpPr>
          <p:cNvPr id="14" name="Text 12"/>
          <p:cNvSpPr/>
          <p:nvPr/>
        </p:nvSpPr>
        <p:spPr>
          <a:xfrm>
            <a:off x="7482825" y="2311329"/>
            <a:ext cx="1554523" cy="2565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6F3EC"/>
                </a:solidFill>
                <a:latin typeface="Segoe UI" panose="020B0502040204020203" pitchFamily="34" charset="0"/>
                <a:ea typeface="Segoe UI" panose="020B0502040204020203" pitchFamily="34" charset="-122"/>
                <a:cs typeface="Segoe UI" panose="020B0502040204020203" pitchFamily="34" charset="-120"/>
              </a:rPr>
              <a:t>PreparedStatement</a:t>
            </a:r>
            <a:endParaRPr lang="en-US" sz="1300" dirty="0"/>
          </a:p>
        </p:txBody>
      </p:sp>
      <p:sp>
        <p:nvSpPr>
          <p:cNvPr id="15" name="Shape 13"/>
          <p:cNvSpPr/>
          <p:nvPr/>
        </p:nvSpPr>
        <p:spPr>
          <a:xfrm>
            <a:off x="9367549" y="1671278"/>
            <a:ext cx="2011651" cy="1640754"/>
          </a:xfrm>
          <a:prstGeom prst="roundRect">
            <a:avLst>
              <a:gd name="adj" fmla="val 6192"/>
            </a:avLst>
          </a:prstGeom>
          <a:solidFill>
            <a:srgbClr val="E9A45C"/>
          </a:solidFill>
        </p:spPr>
      </p:sp>
      <p:sp>
        <p:nvSpPr>
          <p:cNvPr id="16" name="Text 14"/>
          <p:cNvSpPr/>
          <p:nvPr/>
        </p:nvSpPr>
        <p:spPr>
          <a:xfrm>
            <a:off x="9621549" y="1925278"/>
            <a:ext cx="1554451" cy="309851"/>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14312B"/>
                </a:solidFill>
                <a:latin typeface="Segoe UI" panose="020B0502040204020203" pitchFamily="34" charset="0"/>
                <a:ea typeface="Segoe UI" panose="020B0502040204020203" pitchFamily="34" charset="-122"/>
                <a:cs typeface="Segoe UI" panose="020B0502040204020203" pitchFamily="34" charset="-120"/>
              </a:rPr>
              <a:t>MySQL</a:t>
            </a:r>
            <a:endParaRPr lang="en-US" sz="1600" dirty="0"/>
          </a:p>
        </p:txBody>
      </p:sp>
      <p:sp>
        <p:nvSpPr>
          <p:cNvPr id="17" name="Text 15"/>
          <p:cNvSpPr/>
          <p:nvPr/>
        </p:nvSpPr>
        <p:spPr>
          <a:xfrm>
            <a:off x="9621549" y="2311329"/>
            <a:ext cx="1554451" cy="2565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4312B"/>
                </a:solidFill>
                <a:latin typeface="Segoe UI" panose="020B0502040204020203" pitchFamily="34" charset="0"/>
                <a:ea typeface="Segoe UI" panose="020B0502040204020203" pitchFamily="34" charset="-122"/>
                <a:cs typeface="Segoe UI" panose="020B0502040204020203" pitchFamily="34" charset="-120"/>
              </a:rPr>
              <a:t>17 bảng</a:t>
            </a:r>
            <a:endParaRPr lang="en-US" sz="1300" dirty="0"/>
          </a:p>
        </p:txBody>
      </p:sp>
      <p:sp>
        <p:nvSpPr>
          <p:cNvPr id="18" name="Text 16"/>
          <p:cNvSpPr/>
          <p:nvPr/>
        </p:nvSpPr>
        <p:spPr>
          <a:xfrm>
            <a:off x="812800" y="3667630"/>
            <a:ext cx="10883392" cy="675553"/>
          </a:xfrm>
          <a:prstGeom prst="rect">
            <a:avLst/>
          </a:prstGeom>
          <a:noFill/>
        </p:spPr>
        <p:txBody>
          <a:bodyPr wrap="square" lIns="0" tIns="0" rIns="0" bIns="0" rtlCol="0" anchor="t">
            <a:normAutofit/>
          </a:bodyPr>
          <a:lstStyle/>
          <a:p>
            <a:pPr marL="0" indent="0" algn="l">
              <a:lnSpc>
                <a:spcPts val="2560"/>
              </a:lnSpc>
              <a:buNone/>
            </a:pPr>
            <a:r>
              <a:rPr lang="en-US" sz="1600" dirty="0">
                <a:solidFill>
                  <a:srgbClr val="CFD8D3"/>
                </a:solidFill>
                <a:latin typeface="Segoe UI" panose="020B0502040204020203" pitchFamily="34" charset="0"/>
                <a:ea typeface="Segoe UI" panose="020B0502040204020203" pitchFamily="34" charset="-122"/>
                <a:cs typeface="Segoe UI" panose="020B0502040204020203" pitchFamily="34" charset="-120"/>
              </a:rPr>
              <a:t>Java 17 · Jakarta Servlet 6.0.0 · MySQL Connector/J 9.3.0 · jBCrypt (băm mật khẩu) · Filter phân quyền tự viết · React 19, Tailwind, Ant Design, Recharts · Maven · Git/GitHub</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312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F6F3EC"/>
                </a:solidFill>
                <a:latin typeface="Segoe UI" panose="020B0502040204020203" pitchFamily="34" charset="0"/>
                <a:ea typeface="Segoe UI" panose="020B0502040204020203" pitchFamily="34" charset="-122"/>
                <a:cs typeface="Segoe UI" panose="020B0502040204020203" pitchFamily="34" charset="-120"/>
              </a:rPr>
              <a:t>Thiết kế cơ sở dữ liệu</a:t>
            </a:r>
            <a:endParaRPr lang="en-US" sz="3600" dirty="0"/>
          </a:p>
        </p:txBody>
      </p:sp>
      <p:sp>
        <p:nvSpPr>
          <p:cNvPr id="3" name="Shape 1"/>
          <p:cNvSpPr/>
          <p:nvPr/>
        </p:nvSpPr>
        <p:spPr>
          <a:xfrm>
            <a:off x="812800" y="1671278"/>
            <a:ext cx="5181600" cy="1747477"/>
          </a:xfrm>
          <a:prstGeom prst="roundRect">
            <a:avLst>
              <a:gd name="adj" fmla="val 5814"/>
            </a:avLst>
          </a:prstGeom>
          <a:solidFill>
            <a:srgbClr val="2F7D6D"/>
          </a:solidFill>
        </p:spPr>
      </p:sp>
      <p:sp>
        <p:nvSpPr>
          <p:cNvPr id="4" name="Text 2"/>
          <p:cNvSpPr/>
          <p:nvPr/>
        </p:nvSpPr>
        <p:spPr>
          <a:xfrm>
            <a:off x="1066800" y="1925278"/>
            <a:ext cx="4813808" cy="878826"/>
          </a:xfrm>
          <a:prstGeom prst="rect">
            <a:avLst/>
          </a:prstGeom>
          <a:noFill/>
        </p:spPr>
        <p:txBody>
          <a:bodyPr wrap="square" lIns="0" tIns="0" rIns="0" bIns="0" rtlCol="0" anchor="t">
            <a:normAutofit/>
          </a:bodyPr>
          <a:lstStyle/>
          <a:p>
            <a:pPr marL="0" indent="0" algn="l">
              <a:lnSpc>
                <a:spcPts val="6720"/>
              </a:lnSpc>
              <a:buNone/>
            </a:pPr>
            <a:r>
              <a:rPr lang="en-US" sz="4800" b="1" dirty="0">
                <a:solidFill>
                  <a:srgbClr val="E9A45C"/>
                </a:solidFill>
                <a:latin typeface="Segoe UI" panose="020B0502040204020203" pitchFamily="34" charset="0"/>
                <a:ea typeface="Segoe UI" panose="020B0502040204020203" pitchFamily="34" charset="-122"/>
                <a:cs typeface="Segoe UI" panose="020B0502040204020203" pitchFamily="34" charset="-120"/>
              </a:rPr>
              <a:t>17</a:t>
            </a:r>
            <a:endParaRPr lang="en-US" sz="4800" dirty="0"/>
          </a:p>
        </p:txBody>
      </p:sp>
      <p:sp>
        <p:nvSpPr>
          <p:cNvPr id="5" name="Text 3"/>
          <p:cNvSpPr/>
          <p:nvPr/>
        </p:nvSpPr>
        <p:spPr>
          <a:xfrm>
            <a:off x="1066800" y="2880302"/>
            <a:ext cx="4813808" cy="309851"/>
          </a:xfrm>
          <a:prstGeom prst="rect">
            <a:avLst/>
          </a:prstGeom>
          <a:noFill/>
        </p:spPr>
        <p:txBody>
          <a:bodyPr wrap="square" lIns="0" tIns="0" rIns="0" bIns="0" rtlCol="0" anchor="t">
            <a:normAutofit/>
          </a:bodyPr>
          <a:lstStyle/>
          <a:p>
            <a:pPr marL="0" indent="0" algn="l">
              <a:lnSpc>
                <a:spcPts val="2240"/>
              </a:lnSpc>
              <a:buNone/>
            </a:pPr>
            <a:r>
              <a:rPr lang="en-US" sz="1600" dirty="0">
                <a:solidFill>
                  <a:srgbClr val="F6F3EC"/>
                </a:solidFill>
                <a:latin typeface="Segoe UI" panose="020B0502040204020203" pitchFamily="34" charset="0"/>
                <a:ea typeface="Segoe UI" panose="020B0502040204020203" pitchFamily="34" charset="-122"/>
                <a:cs typeface="Segoe UI" panose="020B0502040204020203" pitchFamily="34" charset="-120"/>
              </a:rPr>
              <a:t>bảng trong cơ sở dữ liệu homestay (MySQL)</a:t>
            </a:r>
            <a:endParaRPr lang="en-US" sz="1600" dirty="0"/>
          </a:p>
        </p:txBody>
      </p:sp>
      <p:sp>
        <p:nvSpPr>
          <p:cNvPr id="6" name="Shape 4"/>
          <p:cNvSpPr/>
          <p:nvPr/>
        </p:nvSpPr>
        <p:spPr>
          <a:xfrm>
            <a:off x="6197600" y="1671278"/>
            <a:ext cx="5181600" cy="1747477"/>
          </a:xfrm>
          <a:prstGeom prst="roundRect">
            <a:avLst>
              <a:gd name="adj" fmla="val 5814"/>
            </a:avLst>
          </a:prstGeom>
          <a:solidFill>
            <a:srgbClr val="2F7D6D"/>
          </a:solidFill>
        </p:spPr>
      </p:sp>
      <p:sp>
        <p:nvSpPr>
          <p:cNvPr id="7" name="Text 5"/>
          <p:cNvSpPr/>
          <p:nvPr/>
        </p:nvSpPr>
        <p:spPr>
          <a:xfrm>
            <a:off x="6451600" y="1925278"/>
            <a:ext cx="4813808" cy="345426"/>
          </a:xfrm>
          <a:prstGeom prst="rect">
            <a:avLst/>
          </a:prstGeom>
          <a:noFill/>
        </p:spPr>
        <p:txBody>
          <a:bodyPr wrap="square" lIns="0" tIns="0" rIns="0" bIns="0" rtlCol="0" anchor="t">
            <a:normAutofit/>
          </a:bodyPr>
          <a:lstStyle/>
          <a:p>
            <a:pPr marL="0" indent="0" algn="l">
              <a:lnSpc>
                <a:spcPts val="2520"/>
              </a:lnSpc>
              <a:buNone/>
            </a:pPr>
            <a:r>
              <a:rPr lang="en-US" sz="18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Nhóm bảng chính</a:t>
            </a:r>
            <a:endParaRPr lang="en-US" sz="1800" dirty="0"/>
          </a:p>
        </p:txBody>
      </p:sp>
      <p:sp>
        <p:nvSpPr>
          <p:cNvPr id="8" name="Text 6"/>
          <p:cNvSpPr/>
          <p:nvPr/>
        </p:nvSpPr>
        <p:spPr>
          <a:xfrm>
            <a:off x="6451600" y="2346902"/>
            <a:ext cx="4813808" cy="8255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F6F3EC"/>
                </a:solidFill>
                <a:latin typeface="Segoe UI" panose="020B0502040204020203" pitchFamily="34" charset="0"/>
                <a:ea typeface="Segoe UI" panose="020B0502040204020203" pitchFamily="34" charset="-122"/>
                <a:cs typeface="Segoe UI" panose="020B0502040204020203" pitchFamily="34" charset="-120"/>
              </a:rPr>
              <a:t>Tài khoản và khách hàng · Loại phòng, phòng, tiện nghi, ảnh · Đơn đặt, chi tiết đặt, giá từng đêm · Hóa đơn, thanh toán · Chính sách hoàn hủy, nhật ký</a:t>
            </a:r>
            <a:endParaRPr lang="en-US" sz="1400" dirty="0"/>
          </a:p>
        </p:txBody>
      </p:sp>
      <p:sp>
        <p:nvSpPr>
          <p:cNvPr id="9" name="Text 7"/>
          <p:cNvSpPr/>
          <p:nvPr/>
        </p:nvSpPr>
        <p:spPr>
          <a:xfrm>
            <a:off x="812800" y="3774356"/>
            <a:ext cx="10883392" cy="596900"/>
          </a:xfrm>
          <a:prstGeom prst="rect">
            <a:avLst/>
          </a:prstGeom>
          <a:noFill/>
        </p:spPr>
        <p:txBody>
          <a:bodyPr wrap="square" lIns="0" tIns="0" rIns="0" bIns="0" rtlCol="0" anchor="t">
            <a:normAutofit/>
          </a:bodyPr>
          <a:lstStyle/>
          <a:p>
            <a:pPr marL="0" indent="0" algn="l">
              <a:lnSpc>
                <a:spcPts val="2250"/>
              </a:lnSpc>
              <a:buNone/>
            </a:pPr>
            <a:r>
              <a:rPr lang="en-US" sz="1500" dirty="0">
                <a:solidFill>
                  <a:srgbClr val="CFD8D3"/>
                </a:solidFill>
                <a:latin typeface="Segoe UI" panose="020B0502040204020203" pitchFamily="34" charset="0"/>
                <a:ea typeface="Segoe UI" panose="020B0502040204020203" pitchFamily="34" charset="-122"/>
                <a:cs typeface="Segoe UI" panose="020B0502040204020203" pitchFamily="34" charset="-120"/>
              </a:rPr>
              <a:t>Một đơn có tối đa một hóa đơn. Giá được lưu tại thời điểm đặt nên đổi giá không ảnh hưởng đơn cũ. Dữ liệu đã phát sinh không bị xóa mà chuyển sang ngừng sử dụng.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D2B27"/>
                </a:solidFill>
                <a:latin typeface="Segoe UI" panose="020B0502040204020203" pitchFamily="34" charset="0"/>
                <a:ea typeface="Segoe UI" panose="020B0502040204020203" pitchFamily="34" charset="-122"/>
                <a:cs typeface="Segoe UI" panose="020B0502040204020203" pitchFamily="34" charset="-120"/>
              </a:rPr>
              <a:t>Chức năng theo hai vai trò</a:t>
            </a:r>
            <a:endParaRPr lang="en-US" sz="3600" dirty="0"/>
          </a:p>
        </p:txBody>
      </p:sp>
      <p:sp>
        <p:nvSpPr>
          <p:cNvPr id="3" name="Shape 1"/>
          <p:cNvSpPr/>
          <p:nvPr/>
        </p:nvSpPr>
        <p:spPr>
          <a:xfrm>
            <a:off x="812800" y="1671278"/>
            <a:ext cx="5181600" cy="2626086"/>
          </a:xfrm>
          <a:prstGeom prst="roundRect">
            <a:avLst>
              <a:gd name="adj" fmla="val 3869"/>
            </a:avLst>
          </a:prstGeom>
          <a:solidFill>
            <a:srgbClr val="FFFFFF"/>
          </a:solidFill>
        </p:spPr>
      </p:sp>
      <p:sp>
        <p:nvSpPr>
          <p:cNvPr id="4" name="Text 2"/>
          <p:cNvSpPr/>
          <p:nvPr/>
        </p:nvSpPr>
        <p:spPr>
          <a:xfrm>
            <a:off x="1066800" y="1925278"/>
            <a:ext cx="4813808" cy="416502"/>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2F7D6D"/>
                </a:solidFill>
                <a:latin typeface="Segoe UI" panose="020B0502040204020203" pitchFamily="34" charset="0"/>
                <a:ea typeface="Segoe UI" panose="020B0502040204020203" pitchFamily="34" charset="-122"/>
                <a:cs typeface="Segoe UI" panose="020B0502040204020203" pitchFamily="34" charset="-120"/>
              </a:rPr>
              <a:t>Khách hàng</a:t>
            </a:r>
            <a:endParaRPr lang="en-US" sz="2200" dirty="0"/>
          </a:p>
        </p:txBody>
      </p:sp>
      <p:sp>
        <p:nvSpPr>
          <p:cNvPr id="5" name="Text 3"/>
          <p:cNvSpPr/>
          <p:nvPr/>
        </p:nvSpPr>
        <p:spPr>
          <a:xfrm>
            <a:off x="1092708" y="2417980"/>
            <a:ext cx="4781042" cy="1650784"/>
          </a:xfrm>
          <a:prstGeom prst="rect">
            <a:avLst/>
          </a:prstGeom>
          <a:noFill/>
        </p:spPr>
        <p:txBody>
          <a:bodyPr wrap="square" lIns="0" tIns="0" rIns="0" bIns="0" rtlCol="0" anchor="t">
            <a:normAutofit/>
          </a:bodyPr>
          <a:lstStyle/>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Xem loại phòng, giá ngày thường và cuối tuần</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Tìm phòng trống theo ngày, số khách</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Đặt một hoặc nhiều phòng trong một đơn</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Xem, hủy đơn và xem tiền cọc dự kiến hoàn</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Cập nhật hồ sơ, xem lịch sử và hóa đơn</a:t>
            </a:r>
            <a:endParaRPr lang="en-US" sz="1600" dirty="0"/>
          </a:p>
        </p:txBody>
      </p:sp>
      <p:sp>
        <p:nvSpPr>
          <p:cNvPr id="6" name="Shape 4"/>
          <p:cNvSpPr/>
          <p:nvPr/>
        </p:nvSpPr>
        <p:spPr>
          <a:xfrm>
            <a:off x="6197600" y="1671278"/>
            <a:ext cx="5181600" cy="2626086"/>
          </a:xfrm>
          <a:prstGeom prst="roundRect">
            <a:avLst>
              <a:gd name="adj" fmla="val 3869"/>
            </a:avLst>
          </a:prstGeom>
          <a:solidFill>
            <a:srgbClr val="FFFFFF"/>
          </a:solidFill>
        </p:spPr>
      </p:sp>
      <p:sp>
        <p:nvSpPr>
          <p:cNvPr id="7" name="Text 5"/>
          <p:cNvSpPr/>
          <p:nvPr/>
        </p:nvSpPr>
        <p:spPr>
          <a:xfrm>
            <a:off x="6451600" y="1925278"/>
            <a:ext cx="4813808" cy="416502"/>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C46A12"/>
                </a:solidFill>
                <a:latin typeface="Segoe UI" panose="020B0502040204020203" pitchFamily="34" charset="0"/>
                <a:ea typeface="Segoe UI" panose="020B0502040204020203" pitchFamily="34" charset="-122"/>
                <a:cs typeface="Segoe UI" panose="020B0502040204020203" pitchFamily="34" charset="-120"/>
              </a:rPr>
              <a:t>Quản lý</a:t>
            </a:r>
            <a:endParaRPr lang="en-US" sz="2200" dirty="0"/>
          </a:p>
        </p:txBody>
      </p:sp>
      <p:sp>
        <p:nvSpPr>
          <p:cNvPr id="8" name="Text 6"/>
          <p:cNvSpPr/>
          <p:nvPr/>
        </p:nvSpPr>
        <p:spPr>
          <a:xfrm>
            <a:off x="6477508" y="2417980"/>
            <a:ext cx="4781042" cy="1650784"/>
          </a:xfrm>
          <a:prstGeom prst="rect">
            <a:avLst/>
          </a:prstGeom>
          <a:noFill/>
        </p:spPr>
        <p:txBody>
          <a:bodyPr wrap="square" lIns="0" tIns="0" rIns="0" bIns="0" rtlCol="0" anchor="t">
            <a:normAutofit/>
          </a:bodyPr>
          <a:lstStyle/>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Quản lý loại phòng, giá, phòng, tiện nghi, ảnh</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Sơ đồ phòng theo tầng</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Xác nhận cọc, check-in, check-out</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Lập hóa đơn, ghi nhận thanh toán, hoàn cọc</a:t>
            </a:r>
            <a:endParaRPr lang="en-US" sz="1600" dirty="0"/>
          </a:p>
          <a:p>
            <a:pPr marL="202565" indent="-202565" algn="l">
              <a:lnSpc>
                <a:spcPts val="256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Hồ sơ khách, thống kê doanh thu và tỷ lệ lấp đầy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312B"/>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F6F3EC"/>
                </a:solidFill>
                <a:latin typeface="Segoe UI" panose="020B0502040204020203" pitchFamily="34" charset="0"/>
                <a:ea typeface="Segoe UI" panose="020B0502040204020203" pitchFamily="34" charset="-122"/>
                <a:cs typeface="Segoe UI" panose="020B0502040204020203" pitchFamily="34" charset="-120"/>
              </a:rPr>
              <a:t>Luồng đặt phòng và quy tắc trùng lịch</a:t>
            </a:r>
            <a:endParaRPr lang="en-US" sz="3600" dirty="0"/>
          </a:p>
        </p:txBody>
      </p:sp>
      <p:sp>
        <p:nvSpPr>
          <p:cNvPr id="3" name="Shape 1"/>
          <p:cNvSpPr/>
          <p:nvPr/>
        </p:nvSpPr>
        <p:spPr>
          <a:xfrm>
            <a:off x="812800" y="1620478"/>
            <a:ext cx="2546350" cy="1391877"/>
          </a:xfrm>
          <a:prstGeom prst="roundRect">
            <a:avLst>
              <a:gd name="adj" fmla="val 7299"/>
            </a:avLst>
          </a:prstGeom>
          <a:solidFill>
            <a:srgbClr val="2F7D6D"/>
          </a:solidFill>
        </p:spPr>
      </p:sp>
      <p:sp>
        <p:nvSpPr>
          <p:cNvPr id="4" name="Text 2"/>
          <p:cNvSpPr/>
          <p:nvPr/>
        </p:nvSpPr>
        <p:spPr>
          <a:xfrm>
            <a:off x="1066800" y="1874478"/>
            <a:ext cx="2099501" cy="345426"/>
          </a:xfrm>
          <a:prstGeom prst="rect">
            <a:avLst/>
          </a:prstGeom>
          <a:noFill/>
        </p:spPr>
        <p:txBody>
          <a:bodyPr wrap="square" lIns="0" tIns="0" rIns="0" bIns="0" rtlCol="0" anchor="t">
            <a:normAutofit/>
          </a:bodyPr>
          <a:lstStyle/>
          <a:p>
            <a:pPr marL="0" indent="0" algn="l">
              <a:lnSpc>
                <a:spcPts val="2520"/>
              </a:lnSpc>
              <a:buNone/>
            </a:pPr>
            <a:r>
              <a:rPr lang="en-US" sz="18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CHO_COC</a:t>
            </a:r>
            <a:endParaRPr lang="en-US" sz="1800" dirty="0"/>
          </a:p>
        </p:txBody>
      </p:sp>
      <p:sp>
        <p:nvSpPr>
          <p:cNvPr id="5" name="Text 3"/>
          <p:cNvSpPr/>
          <p:nvPr/>
        </p:nvSpPr>
        <p:spPr>
          <a:xfrm>
            <a:off x="1066800" y="2296105"/>
            <a:ext cx="2099501" cy="487651"/>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6F3EC"/>
                </a:solidFill>
                <a:latin typeface="Segoe UI" panose="020B0502040204020203" pitchFamily="34" charset="0"/>
                <a:ea typeface="Segoe UI" panose="020B0502040204020203" pitchFamily="34" charset="-122"/>
                <a:cs typeface="Segoe UI" panose="020B0502040204020203" pitchFamily="34" charset="-120"/>
              </a:rPr>
              <a:t>Khách đặt, phòng được giữ chỗ đến hạn</a:t>
            </a:r>
            <a:endParaRPr lang="en-US" sz="1300" dirty="0"/>
          </a:p>
        </p:txBody>
      </p:sp>
      <p:sp>
        <p:nvSpPr>
          <p:cNvPr id="6" name="Shape 4"/>
          <p:cNvSpPr/>
          <p:nvPr/>
        </p:nvSpPr>
        <p:spPr>
          <a:xfrm>
            <a:off x="3486150" y="1620478"/>
            <a:ext cx="2546350" cy="1391877"/>
          </a:xfrm>
          <a:prstGeom prst="roundRect">
            <a:avLst>
              <a:gd name="adj" fmla="val 7299"/>
            </a:avLst>
          </a:prstGeom>
          <a:solidFill>
            <a:srgbClr val="2F7D6D"/>
          </a:solidFill>
        </p:spPr>
      </p:sp>
      <p:sp>
        <p:nvSpPr>
          <p:cNvPr id="7" name="Text 5"/>
          <p:cNvSpPr/>
          <p:nvPr/>
        </p:nvSpPr>
        <p:spPr>
          <a:xfrm>
            <a:off x="3740150" y="1874478"/>
            <a:ext cx="2099501" cy="345426"/>
          </a:xfrm>
          <a:prstGeom prst="rect">
            <a:avLst/>
          </a:prstGeom>
          <a:noFill/>
        </p:spPr>
        <p:txBody>
          <a:bodyPr wrap="square" lIns="0" tIns="0" rIns="0" bIns="0" rtlCol="0" anchor="t">
            <a:normAutofit/>
          </a:bodyPr>
          <a:lstStyle/>
          <a:p>
            <a:pPr marL="0" indent="0" algn="l">
              <a:lnSpc>
                <a:spcPts val="2520"/>
              </a:lnSpc>
              <a:buNone/>
            </a:pPr>
            <a:r>
              <a:rPr lang="en-US" sz="18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DA_DAT</a:t>
            </a:r>
            <a:endParaRPr lang="en-US" sz="1800" dirty="0"/>
          </a:p>
        </p:txBody>
      </p:sp>
      <p:sp>
        <p:nvSpPr>
          <p:cNvPr id="8" name="Text 6"/>
          <p:cNvSpPr/>
          <p:nvPr/>
        </p:nvSpPr>
        <p:spPr>
          <a:xfrm>
            <a:off x="3740150" y="2296105"/>
            <a:ext cx="2099501" cy="2565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6F3EC"/>
                </a:solidFill>
                <a:latin typeface="Segoe UI" panose="020B0502040204020203" pitchFamily="34" charset="0"/>
                <a:ea typeface="Segoe UI" panose="020B0502040204020203" pitchFamily="34" charset="-122"/>
                <a:cs typeface="Segoe UI" panose="020B0502040204020203" pitchFamily="34" charset="-120"/>
              </a:rPr>
              <a:t>Quản lý xác nhận tiền cọc</a:t>
            </a:r>
            <a:endParaRPr lang="en-US" sz="1300" dirty="0"/>
          </a:p>
        </p:txBody>
      </p:sp>
      <p:sp>
        <p:nvSpPr>
          <p:cNvPr id="9" name="Shape 7"/>
          <p:cNvSpPr/>
          <p:nvPr/>
        </p:nvSpPr>
        <p:spPr>
          <a:xfrm>
            <a:off x="6159500" y="1620478"/>
            <a:ext cx="2546350" cy="1391877"/>
          </a:xfrm>
          <a:prstGeom prst="roundRect">
            <a:avLst>
              <a:gd name="adj" fmla="val 7299"/>
            </a:avLst>
          </a:prstGeom>
          <a:solidFill>
            <a:srgbClr val="2F7D6D"/>
          </a:solidFill>
        </p:spPr>
      </p:sp>
      <p:sp>
        <p:nvSpPr>
          <p:cNvPr id="10" name="Text 8"/>
          <p:cNvSpPr/>
          <p:nvPr/>
        </p:nvSpPr>
        <p:spPr>
          <a:xfrm>
            <a:off x="6413500" y="1874478"/>
            <a:ext cx="2099501" cy="345426"/>
          </a:xfrm>
          <a:prstGeom prst="rect">
            <a:avLst/>
          </a:prstGeom>
          <a:noFill/>
        </p:spPr>
        <p:txBody>
          <a:bodyPr wrap="square" lIns="0" tIns="0" rIns="0" bIns="0" rtlCol="0" anchor="t">
            <a:normAutofit/>
          </a:bodyPr>
          <a:lstStyle/>
          <a:p>
            <a:pPr marL="0" indent="0" algn="l">
              <a:lnSpc>
                <a:spcPts val="2520"/>
              </a:lnSpc>
              <a:buNone/>
            </a:pPr>
            <a:r>
              <a:rPr lang="en-US" sz="1800" b="1" dirty="0">
                <a:solidFill>
                  <a:srgbClr val="F6F3EC"/>
                </a:solidFill>
                <a:latin typeface="Segoe UI" panose="020B0502040204020203" pitchFamily="34" charset="0"/>
                <a:ea typeface="Segoe UI" panose="020B0502040204020203" pitchFamily="34" charset="-122"/>
                <a:cs typeface="Segoe UI" panose="020B0502040204020203" pitchFamily="34" charset="-120"/>
              </a:rPr>
              <a:t>DANG_O</a:t>
            </a:r>
            <a:endParaRPr lang="en-US" sz="1800" dirty="0"/>
          </a:p>
        </p:txBody>
      </p:sp>
      <p:sp>
        <p:nvSpPr>
          <p:cNvPr id="11" name="Text 9"/>
          <p:cNvSpPr/>
          <p:nvPr/>
        </p:nvSpPr>
        <p:spPr>
          <a:xfrm>
            <a:off x="6413500" y="2296105"/>
            <a:ext cx="2099501" cy="2565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6F3EC"/>
                </a:solidFill>
                <a:latin typeface="Segoe UI" panose="020B0502040204020203" pitchFamily="34" charset="0"/>
                <a:ea typeface="Segoe UI" panose="020B0502040204020203" pitchFamily="34" charset="-122"/>
                <a:cs typeface="Segoe UI" panose="020B0502040204020203" pitchFamily="34" charset="-120"/>
              </a:rPr>
              <a:t>Check-in</a:t>
            </a:r>
            <a:endParaRPr lang="en-US" sz="1300" dirty="0"/>
          </a:p>
        </p:txBody>
      </p:sp>
      <p:sp>
        <p:nvSpPr>
          <p:cNvPr id="12" name="Shape 10"/>
          <p:cNvSpPr/>
          <p:nvPr/>
        </p:nvSpPr>
        <p:spPr>
          <a:xfrm>
            <a:off x="8832850" y="1620478"/>
            <a:ext cx="2546350" cy="1391877"/>
          </a:xfrm>
          <a:prstGeom prst="roundRect">
            <a:avLst>
              <a:gd name="adj" fmla="val 7299"/>
            </a:avLst>
          </a:prstGeom>
          <a:solidFill>
            <a:srgbClr val="E9A45C"/>
          </a:solidFill>
        </p:spPr>
      </p:sp>
      <p:sp>
        <p:nvSpPr>
          <p:cNvPr id="13" name="Text 11"/>
          <p:cNvSpPr/>
          <p:nvPr/>
        </p:nvSpPr>
        <p:spPr>
          <a:xfrm>
            <a:off x="9086850" y="1874478"/>
            <a:ext cx="2099501" cy="345426"/>
          </a:xfrm>
          <a:prstGeom prst="rect">
            <a:avLst/>
          </a:prstGeom>
          <a:noFill/>
        </p:spPr>
        <p:txBody>
          <a:bodyPr wrap="square" lIns="0" tIns="0" rIns="0" bIns="0" rtlCol="0" anchor="t">
            <a:normAutofit/>
          </a:bodyPr>
          <a:lstStyle/>
          <a:p>
            <a:pPr marL="0" indent="0" algn="l">
              <a:lnSpc>
                <a:spcPts val="2520"/>
              </a:lnSpc>
              <a:buNone/>
            </a:pPr>
            <a:r>
              <a:rPr lang="en-US" sz="1800" b="1" dirty="0">
                <a:solidFill>
                  <a:srgbClr val="14312B"/>
                </a:solidFill>
                <a:latin typeface="Segoe UI" panose="020B0502040204020203" pitchFamily="34" charset="0"/>
                <a:ea typeface="Segoe UI" panose="020B0502040204020203" pitchFamily="34" charset="-122"/>
                <a:cs typeface="Segoe UI" panose="020B0502040204020203" pitchFamily="34" charset="-120"/>
              </a:rPr>
              <a:t>HOAN_TAT</a:t>
            </a:r>
            <a:endParaRPr lang="en-US" sz="1800" dirty="0"/>
          </a:p>
        </p:txBody>
      </p:sp>
      <p:sp>
        <p:nvSpPr>
          <p:cNvPr id="14" name="Text 12"/>
          <p:cNvSpPr/>
          <p:nvPr/>
        </p:nvSpPr>
        <p:spPr>
          <a:xfrm>
            <a:off x="9086850" y="2296105"/>
            <a:ext cx="2099501" cy="256526"/>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4312B"/>
                </a:solidFill>
                <a:latin typeface="Segoe UI" panose="020B0502040204020203" pitchFamily="34" charset="0"/>
                <a:ea typeface="Segoe UI" panose="020B0502040204020203" pitchFamily="34" charset="-122"/>
                <a:cs typeface="Segoe UI" panose="020B0502040204020203" pitchFamily="34" charset="-120"/>
              </a:rPr>
              <a:t>Trả phòng, chốt hóa đơn</a:t>
            </a:r>
            <a:endParaRPr lang="en-US" sz="1300" dirty="0"/>
          </a:p>
        </p:txBody>
      </p:sp>
      <p:sp>
        <p:nvSpPr>
          <p:cNvPr id="15" name="Text 13"/>
          <p:cNvSpPr/>
          <p:nvPr/>
        </p:nvSpPr>
        <p:spPr>
          <a:xfrm>
            <a:off x="812800" y="3317156"/>
            <a:ext cx="10883392" cy="311150"/>
          </a:xfrm>
          <a:prstGeom prst="rect">
            <a:avLst/>
          </a:prstGeom>
          <a:noFill/>
        </p:spPr>
        <p:txBody>
          <a:bodyPr wrap="square" lIns="0" tIns="0" rIns="0" bIns="0" rtlCol="0" anchor="t">
            <a:normAutofit/>
          </a:bodyPr>
          <a:lstStyle/>
          <a:p>
            <a:pPr marL="0" indent="0" algn="l">
              <a:lnSpc>
                <a:spcPts val="2250"/>
              </a:lnSpc>
              <a:buNone/>
            </a:pPr>
            <a:r>
              <a:rPr lang="en-US" sz="1500" dirty="0">
                <a:solidFill>
                  <a:srgbClr val="CFD8D3"/>
                </a:solidFill>
                <a:latin typeface="Segoe UI" panose="020B0502040204020203" pitchFamily="34" charset="0"/>
                <a:ea typeface="Segoe UI" panose="020B0502040204020203" pitchFamily="34" charset="-122"/>
                <a:cs typeface="Segoe UI" panose="020B0502040204020203" pitchFamily="34" charset="-120"/>
              </a:rPr>
              <a:t>Quá hạn giữ chỗ: HET_HAN, nhả lịch phòng. Hủy khi chưa check-in: DA_HUY, hoàn cọc theo chính sách.</a:t>
            </a:r>
            <a:endParaRPr lang="en-US" sz="1500" dirty="0"/>
          </a:p>
        </p:txBody>
      </p:sp>
      <p:sp>
        <p:nvSpPr>
          <p:cNvPr id="16" name="Text 14"/>
          <p:cNvSpPr/>
          <p:nvPr/>
        </p:nvSpPr>
        <p:spPr>
          <a:xfrm>
            <a:off x="812800" y="3907706"/>
            <a:ext cx="10566400" cy="1028700"/>
          </a:xfrm>
          <a:prstGeom prst="roundRect">
            <a:avLst>
              <a:gd name="adj" fmla="val 9877"/>
            </a:avLst>
          </a:prstGeom>
          <a:solidFill>
            <a:srgbClr val="F6F3EC"/>
          </a:solidFill>
        </p:spPr>
        <p:txBody>
          <a:bodyPr wrap="square" lIns="224242" tIns="198842" rIns="0" bIns="173442" rtlCol="0" anchor="t">
            <a:normAutofit/>
          </a:bodyPr>
          <a:lstStyle/>
          <a:p>
            <a:pPr marL="0" indent="0" algn="l">
              <a:lnSpc>
                <a:spcPts val="2250"/>
              </a:lnSpc>
              <a:buNone/>
            </a:pPr>
            <a:r>
              <a:rPr lang="en-US" sz="1500" b="1" dirty="0">
                <a:solidFill>
                  <a:srgbClr val="1D2B27"/>
                </a:solidFill>
                <a:latin typeface="Segoe UI" panose="020B0502040204020203" pitchFamily="34" charset="0"/>
                <a:ea typeface="Segoe UI" panose="020B0502040204020203" pitchFamily="34" charset="-122"/>
                <a:cs typeface="Segoe UI" panose="020B0502040204020203" pitchFamily="34" charset="-120"/>
              </a:rPr>
              <a:t>Trùng lịch</a:t>
            </a: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 khi ngày nhận cũ &lt; ngày trả mới và ngày trả cũ &gt; ngày nhận mới. Đơn cũ 10–12: đơn mới 12–14 </a:t>
            </a:r>
            <a:r>
              <a:rPr lang="en-US" sz="1500" b="1" dirty="0">
                <a:solidFill>
                  <a:srgbClr val="2F7D6D"/>
                </a:solidFill>
                <a:latin typeface="Segoe UI" panose="020B0502040204020203" pitchFamily="34" charset="0"/>
                <a:ea typeface="Segoe UI" panose="020B0502040204020203" pitchFamily="34" charset="-122"/>
                <a:cs typeface="Segoe UI" panose="020B0502040204020203" pitchFamily="34" charset="-120"/>
              </a:rPr>
              <a:t>hợp lệ</a:t>
            </a: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 11–13 </a:t>
            </a:r>
            <a:r>
              <a:rPr lang="en-US" sz="1500" b="1" dirty="0">
                <a:solidFill>
                  <a:srgbClr val="C46A12"/>
                </a:solidFill>
                <a:latin typeface="Segoe UI" panose="020B0502040204020203" pitchFamily="34" charset="0"/>
                <a:ea typeface="Segoe UI" panose="020B0502040204020203" pitchFamily="34" charset="-122"/>
                <a:cs typeface="Segoe UI" panose="020B0502040204020203" pitchFamily="34" charset="-120"/>
              </a:rPr>
              <a:t>bị từ chối</a:t>
            </a:r>
            <a:r>
              <a:rPr lang="en-US" sz="1500" dirty="0">
                <a:solidFill>
                  <a:srgbClr val="1D2B27"/>
                </a:solidFill>
                <a:latin typeface="Segoe UI" panose="020B0502040204020203" pitchFamily="34" charset="0"/>
                <a:ea typeface="Segoe UI" panose="020B0502040204020203" pitchFamily="34" charset="-122"/>
                <a:cs typeface="Segoe UI" panose="020B0502040204020203" pitchFamily="34" charset="-120"/>
              </a:rPr>
              <a:t>. Lịch được kiểm tra lại khi lưu đơn.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D2B27"/>
                </a:solidFill>
                <a:latin typeface="Segoe UI" panose="020B0502040204020203" pitchFamily="34" charset="0"/>
                <a:ea typeface="Segoe UI" panose="020B0502040204020203" pitchFamily="34" charset="-122"/>
                <a:cs typeface="Segoe UI" panose="020B0502040204020203" pitchFamily="34" charset="-120"/>
              </a:rPr>
              <a:t>Bảo mật và yêu cầu phi chức năng</a:t>
            </a:r>
            <a:endParaRPr lang="en-US" sz="3600" dirty="0"/>
          </a:p>
        </p:txBody>
      </p:sp>
      <p:sp>
        <p:nvSpPr>
          <p:cNvPr id="3" name="Shape 1"/>
          <p:cNvSpPr/>
          <p:nvPr/>
        </p:nvSpPr>
        <p:spPr>
          <a:xfrm>
            <a:off x="812800" y="1671278"/>
            <a:ext cx="3386643" cy="1480777"/>
          </a:xfrm>
          <a:prstGeom prst="roundRect">
            <a:avLst>
              <a:gd name="adj" fmla="val 6861"/>
            </a:avLst>
          </a:prstGeom>
          <a:solidFill>
            <a:srgbClr val="FFFFFF"/>
          </a:solidFill>
        </p:spPr>
      </p:sp>
      <p:sp>
        <p:nvSpPr>
          <p:cNvPr id="4" name="Text 2"/>
          <p:cNvSpPr/>
          <p:nvPr/>
        </p:nvSpPr>
        <p:spPr>
          <a:xfrm>
            <a:off x="1066800" y="1925278"/>
            <a:ext cx="2965002" cy="363177"/>
          </a:xfrm>
          <a:prstGeom prst="rect">
            <a:avLst/>
          </a:prstGeom>
          <a:noFill/>
        </p:spPr>
        <p:txBody>
          <a:bodyPr wrap="square" lIns="0" tIns="0" rIns="0" bIns="0" rtlCol="0" anchor="t">
            <a:normAutofit/>
          </a:bodyPr>
          <a:lstStyle/>
          <a:p>
            <a:pPr marL="0" indent="0" algn="l">
              <a:lnSpc>
                <a:spcPts val="2660"/>
              </a:lnSpc>
              <a:buNone/>
            </a:pPr>
            <a:r>
              <a:rPr lang="en-US" sz="1900" b="1" dirty="0">
                <a:solidFill>
                  <a:srgbClr val="1D2B27"/>
                </a:solidFill>
                <a:latin typeface="Segoe UI" panose="020B0502040204020203" pitchFamily="34" charset="0"/>
                <a:ea typeface="Segoe UI" panose="020B0502040204020203" pitchFamily="34" charset="-122"/>
                <a:cs typeface="Segoe UI" panose="020B0502040204020203" pitchFamily="34" charset="-120"/>
              </a:rPr>
              <a:t>Mật khẩu</a:t>
            </a:r>
            <a:endParaRPr lang="en-US" sz="1900" dirty="0"/>
          </a:p>
        </p:txBody>
      </p:sp>
      <p:sp>
        <p:nvSpPr>
          <p:cNvPr id="5" name="Text 3"/>
          <p:cNvSpPr/>
          <p:nvPr/>
        </p:nvSpPr>
        <p:spPr>
          <a:xfrm>
            <a:off x="1066800" y="2364656"/>
            <a:ext cx="2965002" cy="5588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1D2B27"/>
                </a:solidFill>
                <a:latin typeface="Segoe UI" panose="020B0502040204020203" pitchFamily="34" charset="0"/>
                <a:ea typeface="Segoe UI" panose="020B0502040204020203" pitchFamily="34" charset="-122"/>
                <a:cs typeface="Segoe UI" panose="020B0502040204020203" pitchFamily="34" charset="-120"/>
              </a:rPr>
              <a:t>Băm BCrypt, không lưu văn bản thuần</a:t>
            </a:r>
            <a:endParaRPr lang="en-US" sz="1400" dirty="0"/>
          </a:p>
        </p:txBody>
      </p:sp>
      <p:sp>
        <p:nvSpPr>
          <p:cNvPr id="6" name="Shape 4"/>
          <p:cNvSpPr/>
          <p:nvPr/>
        </p:nvSpPr>
        <p:spPr>
          <a:xfrm>
            <a:off x="4402643" y="1671278"/>
            <a:ext cx="3386715" cy="1480777"/>
          </a:xfrm>
          <a:prstGeom prst="roundRect">
            <a:avLst>
              <a:gd name="adj" fmla="val 6861"/>
            </a:avLst>
          </a:prstGeom>
          <a:solidFill>
            <a:srgbClr val="FFFFFF"/>
          </a:solidFill>
        </p:spPr>
      </p:sp>
      <p:sp>
        <p:nvSpPr>
          <p:cNvPr id="7" name="Text 5"/>
          <p:cNvSpPr/>
          <p:nvPr/>
        </p:nvSpPr>
        <p:spPr>
          <a:xfrm>
            <a:off x="4656643" y="1925278"/>
            <a:ext cx="2965076" cy="363177"/>
          </a:xfrm>
          <a:prstGeom prst="rect">
            <a:avLst/>
          </a:prstGeom>
          <a:noFill/>
        </p:spPr>
        <p:txBody>
          <a:bodyPr wrap="square" lIns="0" tIns="0" rIns="0" bIns="0" rtlCol="0" anchor="t">
            <a:normAutofit/>
          </a:bodyPr>
          <a:lstStyle/>
          <a:p>
            <a:pPr marL="0" indent="0" algn="l">
              <a:lnSpc>
                <a:spcPts val="2660"/>
              </a:lnSpc>
              <a:buNone/>
            </a:pPr>
            <a:r>
              <a:rPr lang="en-US" sz="1900" b="1" dirty="0">
                <a:solidFill>
                  <a:srgbClr val="1D2B27"/>
                </a:solidFill>
                <a:latin typeface="Segoe UI" panose="020B0502040204020203" pitchFamily="34" charset="0"/>
                <a:ea typeface="Segoe UI" panose="020B0502040204020203" pitchFamily="34" charset="-122"/>
                <a:cs typeface="Segoe UI" panose="020B0502040204020203" pitchFamily="34" charset="-120"/>
              </a:rPr>
              <a:t>Phân quyền</a:t>
            </a:r>
            <a:endParaRPr lang="en-US" sz="1900" dirty="0"/>
          </a:p>
        </p:txBody>
      </p:sp>
      <p:sp>
        <p:nvSpPr>
          <p:cNvPr id="8" name="Text 6"/>
          <p:cNvSpPr/>
          <p:nvPr/>
        </p:nvSpPr>
        <p:spPr>
          <a:xfrm>
            <a:off x="4656643" y="2364656"/>
            <a:ext cx="2965076" cy="5588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1D2B27"/>
                </a:solidFill>
                <a:latin typeface="Segoe UI" panose="020B0502040204020203" pitchFamily="34" charset="0"/>
                <a:ea typeface="Segoe UI" panose="020B0502040204020203" pitchFamily="34" charset="-122"/>
                <a:cs typeface="Segoe UI" panose="020B0502040204020203" pitchFamily="34" charset="-120"/>
              </a:rPr>
              <a:t>Filter riêng cho khu quản lý; khách chỉ xem dữ liệu của mình</a:t>
            </a:r>
            <a:endParaRPr lang="en-US" sz="1400" dirty="0"/>
          </a:p>
        </p:txBody>
      </p:sp>
      <p:sp>
        <p:nvSpPr>
          <p:cNvPr id="9" name="Shape 7"/>
          <p:cNvSpPr/>
          <p:nvPr/>
        </p:nvSpPr>
        <p:spPr>
          <a:xfrm>
            <a:off x="7992558" y="1671278"/>
            <a:ext cx="3386643" cy="1480777"/>
          </a:xfrm>
          <a:prstGeom prst="roundRect">
            <a:avLst>
              <a:gd name="adj" fmla="val 6861"/>
            </a:avLst>
          </a:prstGeom>
          <a:solidFill>
            <a:srgbClr val="FFFFFF"/>
          </a:solidFill>
        </p:spPr>
      </p:sp>
      <p:sp>
        <p:nvSpPr>
          <p:cNvPr id="10" name="Text 8"/>
          <p:cNvSpPr/>
          <p:nvPr/>
        </p:nvSpPr>
        <p:spPr>
          <a:xfrm>
            <a:off x="8246558" y="1925278"/>
            <a:ext cx="2965002" cy="363177"/>
          </a:xfrm>
          <a:prstGeom prst="rect">
            <a:avLst/>
          </a:prstGeom>
          <a:noFill/>
        </p:spPr>
        <p:txBody>
          <a:bodyPr wrap="square" lIns="0" tIns="0" rIns="0" bIns="0" rtlCol="0" anchor="t">
            <a:normAutofit/>
          </a:bodyPr>
          <a:lstStyle/>
          <a:p>
            <a:pPr marL="0" indent="0" algn="l">
              <a:lnSpc>
                <a:spcPts val="2660"/>
              </a:lnSpc>
              <a:buNone/>
            </a:pPr>
            <a:r>
              <a:rPr lang="en-US" sz="1900" b="1" dirty="0">
                <a:solidFill>
                  <a:srgbClr val="1D2B27"/>
                </a:solidFill>
                <a:latin typeface="Segoe UI" panose="020B0502040204020203" pitchFamily="34" charset="0"/>
                <a:ea typeface="Segoe UI" panose="020B0502040204020203" pitchFamily="34" charset="-122"/>
                <a:cs typeface="Segoe UI" panose="020B0502040204020203" pitchFamily="34" charset="-120"/>
              </a:rPr>
              <a:t>Chống dò mật khẩu</a:t>
            </a:r>
            <a:endParaRPr lang="en-US" sz="1900" dirty="0"/>
          </a:p>
        </p:txBody>
      </p:sp>
      <p:sp>
        <p:nvSpPr>
          <p:cNvPr id="11" name="Text 9"/>
          <p:cNvSpPr/>
          <p:nvPr/>
        </p:nvSpPr>
        <p:spPr>
          <a:xfrm>
            <a:off x="8246558" y="2364656"/>
            <a:ext cx="2965002" cy="5588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1D2B27"/>
                </a:solidFill>
                <a:latin typeface="Segoe UI" panose="020B0502040204020203" pitchFamily="34" charset="0"/>
                <a:ea typeface="Segoe UI" panose="020B0502040204020203" pitchFamily="34" charset="-122"/>
                <a:cs typeface="Segoe UI" panose="020B0502040204020203" pitchFamily="34" charset="-120"/>
              </a:rPr>
              <a:t>Khóa 15 phút sau 5 lần sai; phiên hết hạn sau 30 phút</a:t>
            </a:r>
            <a:endParaRPr lang="en-US" sz="1400" dirty="0"/>
          </a:p>
        </p:txBody>
      </p:sp>
      <p:sp>
        <p:nvSpPr>
          <p:cNvPr id="12" name="Shape 10"/>
          <p:cNvSpPr/>
          <p:nvPr/>
        </p:nvSpPr>
        <p:spPr>
          <a:xfrm>
            <a:off x="812800" y="3507656"/>
            <a:ext cx="3386643" cy="1480777"/>
          </a:xfrm>
          <a:prstGeom prst="roundRect">
            <a:avLst>
              <a:gd name="adj" fmla="val 6861"/>
            </a:avLst>
          </a:prstGeom>
          <a:solidFill>
            <a:srgbClr val="14312B"/>
          </a:solidFill>
        </p:spPr>
      </p:sp>
      <p:sp>
        <p:nvSpPr>
          <p:cNvPr id="13" name="Text 11"/>
          <p:cNvSpPr/>
          <p:nvPr/>
        </p:nvSpPr>
        <p:spPr>
          <a:xfrm>
            <a:off x="1066800" y="3761656"/>
            <a:ext cx="2965002" cy="363177"/>
          </a:xfrm>
          <a:prstGeom prst="rect">
            <a:avLst/>
          </a:prstGeom>
          <a:noFill/>
        </p:spPr>
        <p:txBody>
          <a:bodyPr wrap="square" lIns="0" tIns="0" rIns="0" bIns="0" rtlCol="0" anchor="t">
            <a:normAutofit/>
          </a:bodyPr>
          <a:lstStyle/>
          <a:p>
            <a:pPr marL="0" indent="0" algn="l">
              <a:lnSpc>
                <a:spcPts val="2660"/>
              </a:lnSpc>
              <a:buNone/>
            </a:pPr>
            <a:r>
              <a:rPr lang="en-US" sz="1900" b="1" dirty="0">
                <a:solidFill>
                  <a:srgbClr val="E9A45C"/>
                </a:solidFill>
                <a:latin typeface="Segoe UI" panose="020B0502040204020203" pitchFamily="34" charset="0"/>
                <a:ea typeface="Segoe UI" panose="020B0502040204020203" pitchFamily="34" charset="-122"/>
                <a:cs typeface="Segoe UI" panose="020B0502040204020203" pitchFamily="34" charset="-120"/>
              </a:rPr>
              <a:t>SQL Injection, XSS</a:t>
            </a:r>
            <a:endParaRPr lang="en-US" sz="1900" dirty="0"/>
          </a:p>
        </p:txBody>
      </p:sp>
      <p:sp>
        <p:nvSpPr>
          <p:cNvPr id="14" name="Text 12"/>
          <p:cNvSpPr/>
          <p:nvPr/>
        </p:nvSpPr>
        <p:spPr>
          <a:xfrm>
            <a:off x="1066800" y="4201033"/>
            <a:ext cx="2965002" cy="5588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F6F3EC"/>
                </a:solidFill>
                <a:latin typeface="Segoe UI" panose="020B0502040204020203" pitchFamily="34" charset="0"/>
                <a:ea typeface="Segoe UI" panose="020B0502040204020203" pitchFamily="34" charset="-122"/>
                <a:cs typeface="Segoe UI" panose="020B0502040204020203" pitchFamily="34" charset="-120"/>
              </a:rPr>
              <a:t>PreparedStatement; React thoát ký tự khi hiển thị</a:t>
            </a:r>
            <a:endParaRPr lang="en-US" sz="1400" dirty="0"/>
          </a:p>
        </p:txBody>
      </p:sp>
      <p:sp>
        <p:nvSpPr>
          <p:cNvPr id="15" name="Shape 13"/>
          <p:cNvSpPr/>
          <p:nvPr/>
        </p:nvSpPr>
        <p:spPr>
          <a:xfrm>
            <a:off x="4402643" y="3507656"/>
            <a:ext cx="3386715" cy="1480777"/>
          </a:xfrm>
          <a:prstGeom prst="roundRect">
            <a:avLst>
              <a:gd name="adj" fmla="val 6861"/>
            </a:avLst>
          </a:prstGeom>
          <a:solidFill>
            <a:srgbClr val="14312B"/>
          </a:solidFill>
        </p:spPr>
      </p:sp>
      <p:sp>
        <p:nvSpPr>
          <p:cNvPr id="16" name="Text 14"/>
          <p:cNvSpPr/>
          <p:nvPr/>
        </p:nvSpPr>
        <p:spPr>
          <a:xfrm>
            <a:off x="4656643" y="3761656"/>
            <a:ext cx="2965076" cy="363177"/>
          </a:xfrm>
          <a:prstGeom prst="rect">
            <a:avLst/>
          </a:prstGeom>
          <a:noFill/>
        </p:spPr>
        <p:txBody>
          <a:bodyPr wrap="square" lIns="0" tIns="0" rIns="0" bIns="0" rtlCol="0" anchor="t">
            <a:normAutofit/>
          </a:bodyPr>
          <a:lstStyle/>
          <a:p>
            <a:pPr marL="0" indent="0" algn="l">
              <a:lnSpc>
                <a:spcPts val="2660"/>
              </a:lnSpc>
              <a:buNone/>
            </a:pPr>
            <a:r>
              <a:rPr lang="en-US" sz="1900" b="1" dirty="0">
                <a:solidFill>
                  <a:srgbClr val="E9A45C"/>
                </a:solidFill>
                <a:latin typeface="Segoe UI" panose="020B0502040204020203" pitchFamily="34" charset="0"/>
                <a:ea typeface="Segoe UI" panose="020B0502040204020203" pitchFamily="34" charset="-122"/>
                <a:cs typeface="Segoe UI" panose="020B0502040204020203" pitchFamily="34" charset="-120"/>
              </a:rPr>
              <a:t>Truy vết, bảo trì</a:t>
            </a:r>
            <a:endParaRPr lang="en-US" sz="1900" dirty="0"/>
          </a:p>
        </p:txBody>
      </p:sp>
      <p:sp>
        <p:nvSpPr>
          <p:cNvPr id="17" name="Text 15"/>
          <p:cNvSpPr/>
          <p:nvPr/>
        </p:nvSpPr>
        <p:spPr>
          <a:xfrm>
            <a:off x="4656643" y="4201033"/>
            <a:ext cx="2965076" cy="5588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F6F3EC"/>
                </a:solidFill>
                <a:latin typeface="Segoe UI" panose="020B0502040204020203" pitchFamily="34" charset="0"/>
                <a:ea typeface="Segoe UI" panose="020B0502040204020203" pitchFamily="34" charset="-122"/>
                <a:cs typeface="Segoe UI" panose="020B0502040204020203" pitchFamily="34" charset="-120"/>
              </a:rPr>
              <a:t>Tách Controller, Service, DAO; ghi nhật ký thao tác chính</a:t>
            </a:r>
            <a:endParaRPr lang="en-US" sz="1400" dirty="0"/>
          </a:p>
        </p:txBody>
      </p:sp>
      <p:sp>
        <p:nvSpPr>
          <p:cNvPr id="18" name="Shape 16"/>
          <p:cNvSpPr/>
          <p:nvPr/>
        </p:nvSpPr>
        <p:spPr>
          <a:xfrm>
            <a:off x="7992558" y="3507656"/>
            <a:ext cx="3386643" cy="1480777"/>
          </a:xfrm>
          <a:prstGeom prst="roundRect">
            <a:avLst>
              <a:gd name="adj" fmla="val 6861"/>
            </a:avLst>
          </a:prstGeom>
          <a:solidFill>
            <a:srgbClr val="14312B"/>
          </a:solidFill>
        </p:spPr>
      </p:sp>
      <p:sp>
        <p:nvSpPr>
          <p:cNvPr id="19" name="Text 17"/>
          <p:cNvSpPr/>
          <p:nvPr/>
        </p:nvSpPr>
        <p:spPr>
          <a:xfrm>
            <a:off x="8246558" y="3761656"/>
            <a:ext cx="2965002" cy="363177"/>
          </a:xfrm>
          <a:prstGeom prst="rect">
            <a:avLst/>
          </a:prstGeom>
          <a:noFill/>
        </p:spPr>
        <p:txBody>
          <a:bodyPr wrap="square" lIns="0" tIns="0" rIns="0" bIns="0" rtlCol="0" anchor="t">
            <a:normAutofit/>
          </a:bodyPr>
          <a:lstStyle/>
          <a:p>
            <a:pPr marL="0" indent="0" algn="l">
              <a:lnSpc>
                <a:spcPts val="2660"/>
              </a:lnSpc>
              <a:buNone/>
            </a:pPr>
            <a:r>
              <a:rPr lang="en-US" sz="1900" b="1" dirty="0">
                <a:solidFill>
                  <a:srgbClr val="E9A45C"/>
                </a:solidFill>
                <a:latin typeface="Segoe UI" panose="020B0502040204020203" pitchFamily="34" charset="0"/>
                <a:ea typeface="Segoe UI" panose="020B0502040204020203" pitchFamily="34" charset="-122"/>
                <a:cs typeface="Segoe UI" panose="020B0502040204020203" pitchFamily="34" charset="-120"/>
              </a:rPr>
              <a:t>Giao diện</a:t>
            </a:r>
            <a:endParaRPr lang="en-US" sz="1900" dirty="0"/>
          </a:p>
        </p:txBody>
      </p:sp>
      <p:sp>
        <p:nvSpPr>
          <p:cNvPr id="20" name="Text 18"/>
          <p:cNvSpPr/>
          <p:nvPr/>
        </p:nvSpPr>
        <p:spPr>
          <a:xfrm>
            <a:off x="8246558" y="4201033"/>
            <a:ext cx="2965002" cy="292100"/>
          </a:xfrm>
          <a:prstGeom prst="rect">
            <a:avLst/>
          </a:prstGeom>
          <a:noFill/>
        </p:spPr>
        <p:txBody>
          <a:bodyPr wrap="square" lIns="0" tIns="0" rIns="0" bIns="0" rtlCol="0" anchor="t">
            <a:normAutofit/>
          </a:bodyPr>
          <a:lstStyle/>
          <a:p>
            <a:pPr marL="0" indent="0" algn="l">
              <a:lnSpc>
                <a:spcPts val="2100"/>
              </a:lnSpc>
              <a:buNone/>
            </a:pPr>
            <a:r>
              <a:rPr lang="en-US" sz="1400" dirty="0">
                <a:solidFill>
                  <a:srgbClr val="F6F3EC"/>
                </a:solidFill>
                <a:latin typeface="Segoe UI" panose="020B0502040204020203" pitchFamily="34" charset="0"/>
                <a:ea typeface="Segoe UI" panose="020B0502040204020203" pitchFamily="34" charset="-122"/>
                <a:cs typeface="Segoe UI" panose="020B0502040204020203" pitchFamily="34" charset="-120"/>
              </a:rPr>
              <a:t>Co giãn ở 360, 768 và từ 1280 px</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77"/>
          </a:xfrm>
          <a:prstGeom prst="rect">
            <a:avLst/>
          </a:prstGeom>
          <a:noFill/>
        </p:spPr>
        <p:txBody>
          <a:bodyPr wrap="square" lIns="0" tIns="0" rIns="0" bIns="0" rtlCol="0" anchor="t">
            <a:normAutofit/>
          </a:bodyPr>
          <a:lstStyle/>
          <a:p>
            <a:pPr marL="0" indent="0" algn="l">
              <a:lnSpc>
                <a:spcPts val="3960"/>
              </a:lnSpc>
              <a:buNone/>
            </a:pPr>
            <a:r>
              <a:rPr lang="en-US" sz="3600" b="1" i="0" dirty="0">
                <a:solidFill>
                  <a:srgbClr val="1D2B27"/>
                </a:solidFill>
                <a:latin typeface="Segoe UI" panose="020B0502040204020203" pitchFamily="34" charset="0"/>
                <a:ea typeface="Segoe UI" panose="020B0502040204020203" pitchFamily="34" charset="-122"/>
                <a:cs typeface="Segoe UI" panose="020B0502040204020203" pitchFamily="34" charset="-120"/>
              </a:rPr>
              <a:t>Kết quả demo và hướng phát triển</a:t>
            </a:r>
            <a:endParaRPr lang="en-US" sz="3600" dirty="0"/>
          </a:p>
        </p:txBody>
      </p:sp>
      <p:sp>
        <p:nvSpPr>
          <p:cNvPr id="3" name="Shape 1"/>
          <p:cNvSpPr/>
          <p:nvPr/>
        </p:nvSpPr>
        <p:spPr>
          <a:xfrm>
            <a:off x="812800" y="1671278"/>
            <a:ext cx="5181600" cy="2219902"/>
          </a:xfrm>
          <a:prstGeom prst="roundRect">
            <a:avLst>
              <a:gd name="adj" fmla="val 4577"/>
            </a:avLst>
          </a:prstGeom>
          <a:solidFill>
            <a:srgbClr val="14312B"/>
          </a:solidFill>
        </p:spPr>
      </p:sp>
      <p:sp>
        <p:nvSpPr>
          <p:cNvPr id="4" name="Text 2"/>
          <p:cNvSpPr/>
          <p:nvPr/>
        </p:nvSpPr>
        <p:spPr>
          <a:xfrm>
            <a:off x="1066800" y="1925278"/>
            <a:ext cx="4813808" cy="416502"/>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E9A45C"/>
                </a:solidFill>
                <a:latin typeface="Segoe UI" panose="020B0502040204020203" pitchFamily="34" charset="0"/>
                <a:ea typeface="Segoe UI" panose="020B0502040204020203" pitchFamily="34" charset="-122"/>
                <a:cs typeface="Segoe UI" panose="020B0502040204020203" pitchFamily="34" charset="-120"/>
              </a:rPr>
              <a:t>Dữ liệu demo</a:t>
            </a:r>
            <a:endParaRPr lang="en-US" sz="2200" dirty="0"/>
          </a:p>
        </p:txBody>
      </p:sp>
      <p:sp>
        <p:nvSpPr>
          <p:cNvPr id="5" name="Text 3"/>
          <p:cNvSpPr/>
          <p:nvPr/>
        </p:nvSpPr>
        <p:spPr>
          <a:xfrm>
            <a:off x="1066800" y="2417980"/>
            <a:ext cx="4813808" cy="939800"/>
          </a:xfrm>
          <a:prstGeom prst="rect">
            <a:avLst/>
          </a:prstGeom>
          <a:noFill/>
        </p:spPr>
        <p:txBody>
          <a:bodyPr wrap="square" lIns="0" tIns="0" rIns="0" bIns="0" rtlCol="0" anchor="t">
            <a:normAutofit/>
          </a:bodyPr>
          <a:lstStyle/>
          <a:p>
            <a:pPr marL="0" indent="0" algn="l">
              <a:lnSpc>
                <a:spcPts val="2400"/>
              </a:lnSpc>
              <a:buNone/>
            </a:pPr>
            <a:r>
              <a:rPr lang="en-US" sz="1600" dirty="0">
                <a:solidFill>
                  <a:srgbClr val="F6F3EC"/>
                </a:solidFill>
                <a:latin typeface="Segoe UI" panose="020B0502040204020203" pitchFamily="34" charset="0"/>
                <a:ea typeface="Segoe UI" panose="020B0502040204020203" pitchFamily="34" charset="-122"/>
                <a:cs typeface="Segoe UI" panose="020B0502040204020203" pitchFamily="34" charset="-120"/>
              </a:rPr>
              <a:t>4 loại phòng, 10 phòng trên 3 tầng, 4 tiện nghi, 3 hồ sơ khách. Chạy cục bộ: giao diện khách, giao diện quản lý và API Servlet.</a:t>
            </a:r>
            <a:endParaRPr lang="en-US" sz="1600" dirty="0"/>
          </a:p>
        </p:txBody>
      </p:sp>
      <p:sp>
        <p:nvSpPr>
          <p:cNvPr id="6" name="Shape 4"/>
          <p:cNvSpPr/>
          <p:nvPr/>
        </p:nvSpPr>
        <p:spPr>
          <a:xfrm>
            <a:off x="6197600" y="1671278"/>
            <a:ext cx="5181600" cy="2219902"/>
          </a:xfrm>
          <a:prstGeom prst="roundRect">
            <a:avLst>
              <a:gd name="adj" fmla="val 4577"/>
            </a:avLst>
          </a:prstGeom>
          <a:solidFill>
            <a:srgbClr val="FFFFFF"/>
          </a:solidFill>
        </p:spPr>
      </p:sp>
      <p:sp>
        <p:nvSpPr>
          <p:cNvPr id="7" name="Text 5"/>
          <p:cNvSpPr/>
          <p:nvPr/>
        </p:nvSpPr>
        <p:spPr>
          <a:xfrm>
            <a:off x="6451600" y="1925278"/>
            <a:ext cx="4813808" cy="416502"/>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1D2B27"/>
                </a:solidFill>
                <a:latin typeface="Segoe UI" panose="020B0502040204020203" pitchFamily="34" charset="0"/>
                <a:ea typeface="Segoe UI" panose="020B0502040204020203" pitchFamily="34" charset="-122"/>
                <a:cs typeface="Segoe UI" panose="020B0502040204020203" pitchFamily="34" charset="-120"/>
              </a:rPr>
              <a:t>Hướng phát triển</a:t>
            </a:r>
            <a:endParaRPr lang="en-US" sz="2200" dirty="0"/>
          </a:p>
        </p:txBody>
      </p:sp>
      <p:sp>
        <p:nvSpPr>
          <p:cNvPr id="8" name="Text 6"/>
          <p:cNvSpPr/>
          <p:nvPr/>
        </p:nvSpPr>
        <p:spPr>
          <a:xfrm>
            <a:off x="6477508" y="2417980"/>
            <a:ext cx="4781042" cy="1244600"/>
          </a:xfrm>
          <a:prstGeom prst="rect">
            <a:avLst/>
          </a:prstGeom>
          <a:noFill/>
        </p:spPr>
        <p:txBody>
          <a:bodyPr wrap="square" lIns="0" tIns="0" rIns="0" bIns="0" rtlCol="0" anchor="t">
            <a:normAutofit/>
          </a:bodyPr>
          <a:lstStyle/>
          <a:p>
            <a:pPr marL="202565" indent="-202565" algn="l">
              <a:lnSpc>
                <a:spcPts val="240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Tích hợp cổng thanh toán (VNPay, Momo, ZaloPay)</a:t>
            </a:r>
            <a:endParaRPr lang="en-US" sz="1600" dirty="0"/>
          </a:p>
          <a:p>
            <a:pPr marL="202565" indent="-202565" algn="l">
              <a:lnSpc>
                <a:spcPts val="240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Email/SMS tự động, đánh giá của khách</a:t>
            </a:r>
            <a:endParaRPr lang="en-US" sz="1600" dirty="0"/>
          </a:p>
          <a:p>
            <a:pPr marL="202565" indent="-202565" algn="l">
              <a:lnSpc>
                <a:spcPts val="2400"/>
              </a:lnSpc>
              <a:buSzPct val="100000"/>
              <a:buChar char="•"/>
            </a:pPr>
            <a:r>
              <a:rPr lang="en-US" sz="1600" dirty="0">
                <a:solidFill>
                  <a:srgbClr val="1D2B27"/>
                </a:solidFill>
                <a:latin typeface="Segoe UI" panose="020B0502040204020203" pitchFamily="34" charset="0"/>
                <a:ea typeface="Segoe UI" panose="020B0502040204020203" pitchFamily="34" charset="-122"/>
                <a:cs typeface="Segoe UI" panose="020B0502040204020203" pitchFamily="34" charset="-120"/>
              </a:rPr>
              <a:t>Ứng dụng di động, nhiều cơ sở homestay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312B"/>
        </a:solidFill>
        <a:effectLst/>
      </p:bgPr>
    </p:bg>
    <p:spTree>
      <p:nvGrpSpPr>
        <p:cNvPr id="1" name=""/>
        <p:cNvGrpSpPr/>
        <p:nvPr/>
      </p:nvGrpSpPr>
      <p:grpSpPr>
        <a:xfrm>
          <a:off x="0" y="0"/>
          <a:ext cx="0" cy="0"/>
          <a:chOff x="0" y="0"/>
          <a:chExt cx="0" cy="0"/>
        </a:xfrm>
      </p:grpSpPr>
      <p:sp>
        <p:nvSpPr>
          <p:cNvPr id="2" name="Text 0"/>
          <p:cNvSpPr/>
          <p:nvPr>
            <p:ph type="title"/>
          </p:nvPr>
        </p:nvSpPr>
        <p:spPr>
          <a:xfrm>
            <a:off x="1962150" y="2715260"/>
            <a:ext cx="8267065" cy="1427480"/>
          </a:xfrm>
          <a:prstGeom prst="rect">
            <a:avLst/>
          </a:prstGeom>
          <a:noFill/>
        </p:spPr>
        <p:txBody>
          <a:bodyPr wrap="square" lIns="0" tIns="0" rIns="0" bIns="0" rtlCol="0" anchor="t">
            <a:normAutofit fontScale="90000"/>
          </a:bodyPr>
          <a:lstStyle/>
          <a:p>
            <a:pPr marL="0" indent="0" algn="ctr">
              <a:lnSpc>
                <a:spcPts val="5520"/>
              </a:lnSpc>
              <a:buNone/>
            </a:pPr>
            <a:r>
              <a:rPr lang="en-US" sz="4800" b="1" i="0" dirty="0">
                <a:solidFill>
                  <a:srgbClr val="F6F3EC"/>
                </a:solidFill>
                <a:latin typeface="Segoe UI" panose="020B0502040204020203" pitchFamily="34" charset="0"/>
                <a:ea typeface="Segoe UI" panose="020B0502040204020203" pitchFamily="34" charset="-122"/>
                <a:cs typeface="Segoe UI" panose="020B0502040204020203" pitchFamily="34" charset="-120"/>
              </a:rPr>
              <a:t>Xin cảm ơn thầy và các bạn đã lắng nghe!</a:t>
            </a:r>
            <a:endParaRPr lang="en-US" sz="4800" dirty="0"/>
          </a:p>
        </p:txBody>
      </p:sp>
    </p:spTree>
  </p:cSld>
  <p:clrMapOvr>
    <a:masterClrMapping/>
  </p:clrMapOvr>
</p:sld>
</file>

<file path=ppt/theme/theme1.xml><?xml version="1.0" encoding="utf-8"?>
<a:theme xmlns:a="http://schemas.openxmlformats.org/drawingml/2006/main" name="Website đặt phòng Homestay">
  <a:themeElements>
    <a:clrScheme name="Website đặt phòng Homestay">
      <a:dk1>
        <a:srgbClr val="1D2B27"/>
      </a:dk1>
      <a:lt1>
        <a:srgbClr val="F6F3EC"/>
      </a:lt1>
      <a:dk2>
        <a:srgbClr val="535D58"/>
      </a:dk2>
      <a:lt2>
        <a:srgbClr val="E0DFD8"/>
      </a:lt2>
      <a:accent1>
        <a:srgbClr val="2F7D6D"/>
      </a:accent1>
      <a:accent2>
        <a:srgbClr val="E9A45C"/>
      </a:accent2>
      <a:accent3>
        <a:srgbClr val="C46A12"/>
      </a:accent3>
      <a:accent4>
        <a:srgbClr val="CFD8D3"/>
      </a:accent4>
      <a:accent5>
        <a:srgbClr val="9AA0A6"/>
      </a:accent5>
      <a:accent6>
        <a:srgbClr val="747B76"/>
      </a:accent6>
      <a:hlink>
        <a:srgbClr val="0563C1"/>
      </a:hlink>
      <a:folHlink>
        <a:srgbClr val="954F72"/>
      </a:folHlink>
    </a:clrScheme>
    <a:fontScheme name="Website đặt phòng Homestay">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bsite đặt phòng Homestay">
  <a:themeElements>
    <a:clrScheme name="Website đặt phòng Homestay">
      <a:dk1>
        <a:srgbClr val="1D2B27"/>
      </a:dk1>
      <a:lt1>
        <a:srgbClr val="F6F3EC"/>
      </a:lt1>
      <a:dk2>
        <a:srgbClr val="535D58"/>
      </a:dk2>
      <a:lt2>
        <a:srgbClr val="E0DFD8"/>
      </a:lt2>
      <a:accent1>
        <a:srgbClr val="2F7D6D"/>
      </a:accent1>
      <a:accent2>
        <a:srgbClr val="E9A45C"/>
      </a:accent2>
      <a:accent3>
        <a:srgbClr val="C46A12"/>
      </a:accent3>
      <a:accent4>
        <a:srgbClr val="CFD8D3"/>
      </a:accent4>
      <a:accent5>
        <a:srgbClr val="9AA0A6"/>
      </a:accent5>
      <a:accent6>
        <a:srgbClr val="747B76"/>
      </a:accent6>
      <a:hlink>
        <a:srgbClr val="0563C1"/>
      </a:hlink>
      <a:folHlink>
        <a:srgbClr val="954F72"/>
      </a:folHlink>
    </a:clrScheme>
    <a:fontScheme name="Website đặt phòng Homestay">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3381</Words>
  <Application>WPS Presentation</Application>
  <PresentationFormat>On-screen Show (16:9)</PresentationFormat>
  <Paragraphs>156</Paragraphs>
  <Slides>10</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Segoe UI</vt:lpstr>
      <vt:lpstr>Segoe UI</vt:lpstr>
      <vt:lpstr>Segoe UI</vt:lpstr>
      <vt:lpstr>Microsoft YaHei</vt:lpstr>
      <vt:lpstr>Arial Unicode MS</vt:lpstr>
      <vt:lpstr>Website đặt phòng Homestay</vt:lpstr>
      <vt:lpstr>Xây dựng website đặt phòng Homestay</vt:lpstr>
      <vt:lpstr>Vì sao chọn đề tài</vt:lpstr>
      <vt:lpstr>Mục tiêu và phạm vi</vt:lpstr>
      <vt:lpstr>Công nghệ và kiến trúc phân tầng</vt:lpstr>
      <vt:lpstr>Thiết kế cơ sở dữ liệu</vt:lpstr>
      <vt:lpstr>Chức năng theo hai vai trò</vt:lpstr>
      <vt:lpstr>Luồng đặt phòng và quy tắc trùng lịch</vt:lpstr>
      <vt:lpstr>Bảo mật và yêu cầu phi chức năng</vt:lpstr>
      <vt:lpstr>Kết quả demo và hướng phát triển</vt:lpstr>
      <vt:lpstr>Xin cảm ơn thầy và các bạn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đặt phòng Homestay</dc:title>
  <dc:creator/>
  <cp:lastModifiedBy>Šɦїŋø ღσɳツ</cp:lastModifiedBy>
  <cp:revision>2</cp:revision>
  <dcterms:created xsi:type="dcterms:W3CDTF">2026-10-25T07:16:00Z</dcterms:created>
  <dcterms:modified xsi:type="dcterms:W3CDTF">2026-10-25T10:21:37Z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2B1220AEAC0F415FB8D2AB43FEEF9F89_12</vt:lpwstr>
  </property>
  <property fmtid="{D5CDD505-2E9C-101B-9397-08002B2CF9AE}" pid="3" name="KSOProductBuildVer">
    <vt:lpwstr>1033-12.2.0.23206</vt:lpwstr>
  </property>
</Properties>
</file>